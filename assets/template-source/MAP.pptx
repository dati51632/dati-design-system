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2000"/>
  <p:notesSz cx="6858000" cy="9144000"/>
  <p:embeddedFontLst>
    <p:embeddedFont>
      <p:font typeface="Manrope Light"/>
      <p:regular r:id="rId24"/>
      <p:bold r:id="rId25"/>
    </p:embeddedFont>
    <p:embeddedFont>
      <p:font typeface="Manrope"/>
      <p:regular r:id="rId26"/>
      <p:bold r:id="rId27"/>
    </p:embeddedFont>
    <p:embeddedFont>
      <p:font typeface="Manrope ExtraBold"/>
      <p:bold r:id="rId28"/>
    </p:embeddedFont>
    <p:embeddedFont>
      <p:font typeface="Manrope Medium"/>
      <p:regular r:id="rId29"/>
      <p:bold r:id="rId30"/>
    </p:embeddedFont>
    <p:embeddedFont>
      <p:font typeface="DM Sans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60">
          <p15:clr>
            <a:srgbClr val="747775"/>
          </p15:clr>
        </p15:guide>
        <p15:guide id="2" pos="288">
          <p15:clr>
            <a:srgbClr val="747775"/>
          </p15:clr>
        </p15:guide>
      </p15:sldGuideLst>
    </p:ext>
    <p:ext uri="GoogleSlidesCustomDataVersion2">
      <go:slidesCustomData xmlns:go="http://customooxmlschemas.google.com/" r:id="rId35" roundtripDataSignature="AMtx7miACndunHtxzR5AM6/SzCAAdSFq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60" orient="horz"/>
        <p:guide pos="28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ManropeLight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anrope-regular.fntdata"/><Relationship Id="rId25" Type="http://schemas.openxmlformats.org/officeDocument/2006/relationships/font" Target="fonts/ManropeLight-bold.fntdata"/><Relationship Id="rId28" Type="http://schemas.openxmlformats.org/officeDocument/2006/relationships/font" Target="fonts/ManropeExtraBold-bold.fntdata"/><Relationship Id="rId27" Type="http://schemas.openxmlformats.org/officeDocument/2006/relationships/font" Target="fonts/Manrope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anropeMedium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DMSans-regular.fntdata"/><Relationship Id="rId30" Type="http://schemas.openxmlformats.org/officeDocument/2006/relationships/font" Target="fonts/ManropeMedium-bold.fntdata"/><Relationship Id="rId11" Type="http://schemas.openxmlformats.org/officeDocument/2006/relationships/slide" Target="slides/slide6.xml"/><Relationship Id="rId33" Type="http://schemas.openxmlformats.org/officeDocument/2006/relationships/font" Target="fonts/DMSans-italic.fntdata"/><Relationship Id="rId10" Type="http://schemas.openxmlformats.org/officeDocument/2006/relationships/slide" Target="slides/slide5.xml"/><Relationship Id="rId32" Type="http://schemas.openxmlformats.org/officeDocument/2006/relationships/font" Target="fonts/DMSans-bold.fntdata"/><Relationship Id="rId13" Type="http://schemas.openxmlformats.org/officeDocument/2006/relationships/slide" Target="slides/slide8.xml"/><Relationship Id="rId35" Type="http://customschemas.google.com/relationships/presentationmetadata" Target="metadata"/><Relationship Id="rId12" Type="http://schemas.openxmlformats.org/officeDocument/2006/relationships/slide" Target="slides/slide7.xml"/><Relationship Id="rId34" Type="http://schemas.openxmlformats.org/officeDocument/2006/relationships/font" Target="fonts/DMSans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f6edb484d6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" name="Google Shape;23;g3f6edb484d6_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f6edb484d6_2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" name="Google Shape;43;g3f6edb484d6_2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f6edb484d6_2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" name="Google Shape;56;g3f6edb484d6_2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6edb484d6_2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g3f6edb484d6_2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6edb484d6_2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g3f6edb484d6_2_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6edb484d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g3f6edb484d6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b63e66dda_0_0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" name="Google Shape;153;g3fb63e66dda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550" lIns="93125" spcFirstLastPara="1" rIns="93125" wrap="square" tIns="46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g3fb63e66dda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3125" lIns="93125" spcFirstLastPara="1" rIns="93125" wrap="square" tIns="93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b63e66dda_0_9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g3fb63e66dda_0_9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Quatro mudanças concretas. A que mais pega na plateia é a segunda: o plano de cinco anos deixa de ter o degrau de hardware no meio dele.</a:t>
            </a:r>
            <a:endParaRPr/>
          </a:p>
        </p:txBody>
      </p:sp>
      <p:sp>
        <p:nvSpPr>
          <p:cNvPr id="164" name="Google Shape;164;g3fb63e66dda_0_9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fb63e66dda_0_41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g3fb63e66dda_0_41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 três fases do MAP. O ponto que importa: cada fase tem metodologia, entregável e incentivo financeiro da AWS.</a:t>
            </a:r>
            <a:endParaRPr/>
          </a:p>
        </p:txBody>
      </p:sp>
      <p:sp>
        <p:nvSpPr>
          <p:cNvPr id="197" name="Google Shape;197;g3fb63e66dda_0_41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fb63e66dda_0_69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g3fb63e66dda_0_69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tensão do slide é entre as duas colunas: a velocidade vem do as-is, e a IA permite modernizar alguns pontos no caminho, sem pagar pedágio de prazo.</a:t>
            </a:r>
            <a:endParaRPr/>
          </a:p>
        </p:txBody>
      </p:sp>
      <p:sp>
        <p:nvSpPr>
          <p:cNvPr id="226" name="Google Shape;226;g3fb63e66dda_0_69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fb63e66dda_0_91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g3fb63e66dda_0_91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Defino modernizar: muda plataforma, código ou arquitetura — não só o host. Passo pelos quatro sem aprofundar; o Refactor é onde a IA mais acelera.</a:t>
            </a:r>
            <a:endParaRPr/>
          </a:p>
        </p:txBody>
      </p:sp>
      <p:sp>
        <p:nvSpPr>
          <p:cNvPr id="249" name="Google Shape;249;g3fb63e66dda_0_91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fb63e66dda_0_126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g3fb63e66dda_0_126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Virada para o segundo bloco: onde a Dati encurta o caminho. Daqui em diante é sobre nós, não sobre o programa.</a:t>
            </a:r>
            <a:endParaRPr/>
          </a:p>
        </p:txBody>
      </p:sp>
      <p:sp>
        <p:nvSpPr>
          <p:cNvPr id="285" name="Google Shape;285;g3fb63e66dda_0_126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fb63e66dda_0_134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g3fb63e66dda_0_134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argumento central do bloco: cada projeto entregue vira ativo para o próximo. Percorro os quatro rápido — o que importa é a ideia de não recomeçar.</a:t>
            </a:r>
            <a:endParaRPr/>
          </a:p>
        </p:txBody>
      </p:sp>
      <p:sp>
        <p:nvSpPr>
          <p:cNvPr id="294" name="Google Shape;294;g3fb63e66dda_0_134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b63e66dda_0_168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g3fb63e66dda_0_168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Fecho o argumento dos ativos com a consequência para o cliente: contratar a Dati é ganhar anos de experiência de um time que já fez e testou isso várias vezes.</a:t>
            </a:r>
            <a:endParaRPr/>
          </a:p>
        </p:txBody>
      </p:sp>
      <p:sp>
        <p:nvSpPr>
          <p:cNvPr id="329" name="Google Shape;329;g3fb63e66dda_0_168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fb63e66dda_0_176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g3fb63e66dda_0_176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Apresento o Dati Labs e por que isso importa na migração do cliente. O número abre a conversa: a falha não é da ferramenta, é de processo, infraestrutura e preparo.</a:t>
            </a:r>
            <a:endParaRPr/>
          </a:p>
        </p:txBody>
      </p:sp>
      <p:sp>
        <p:nvSpPr>
          <p:cNvPr id="338" name="Google Shape;338;g3fb63e66dda_0_176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fb63e66dda_0_199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g3fb63e66dda_0_199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Amarrando tudo. O MAP dá o caminho: Assess, Mobilize, Migrate and Modernize, com metodologia e incentivo financeiro da AWS em cada fase. E a Dati dá a velocidade: discovery enriquecido com IA no Assess, landing zone como código no Mobilize, esteiras de onda com modernização por agente no Migrate. O resultado é uma migração que não é aposta.</a:t>
            </a:r>
            <a:endParaRPr/>
          </a:p>
        </p:txBody>
      </p:sp>
      <p:sp>
        <p:nvSpPr>
          <p:cNvPr id="362" name="Google Shape;362;g3fb63e66dda_0_199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fb63e66dda_0_247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0" name="Google Shape;410;g3fb63e66dda_0_247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Fechando com o que eu proponho de concreto. Escaneiem o QR Code, deixem o contato, e a gente agenda uma conversa de aprofundamento sobre o ambiente de vocês. Sem compromisso, no sentido literal: a avaliação do MAP é financiada pela AWS. [Deixe o slide no ar. Não fale por cima do momento em que as pessoas pegam o celular.] [Trocar o placeholder pelo QR real antes do evento.]</a:t>
            </a:r>
            <a:endParaRPr/>
          </a:p>
        </p:txBody>
      </p:sp>
      <p:sp>
        <p:nvSpPr>
          <p:cNvPr id="411" name="Google Shape;411;g3fb63e66dda_0_247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fb63e66dda_0_266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0" name="Google Shape;430;g3fb63e66dda_0_266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Obrigado. [Deixe no ar durante as perguntas. Se ninguém perguntar nos primeiros segundos, puxe você: pergunte quantos ali têm data center próprio hoje, e conte as mãos.]</a:t>
            </a:r>
            <a:endParaRPr/>
          </a:p>
        </p:txBody>
      </p:sp>
      <p:sp>
        <p:nvSpPr>
          <p:cNvPr id="431" name="Google Shape;431;g3fb63e66dda_0_266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/>
              <a:t>‹#›</a:t>
            </a:fld>
            <a:endParaRPr sz="9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-divider.png" id="16" name="Google Shape;16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99675" y="-56075"/>
            <a:ext cx="12291676" cy="691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3"/>
          <p:cNvSpPr/>
          <p:nvPr/>
        </p:nvSpPr>
        <p:spPr>
          <a:xfrm>
            <a:off x="6275438" y="1423175"/>
            <a:ext cx="6401019" cy="6302088"/>
          </a:xfrm>
          <a:custGeom>
            <a:rect b="b" l="l" r="r" t="t"/>
            <a:pathLst>
              <a:path extrusionOk="0" h="8347137" w="8478171">
                <a:moveTo>
                  <a:pt x="0" y="0"/>
                </a:moveTo>
                <a:lnTo>
                  <a:pt x="8478171" y="0"/>
                </a:lnTo>
                <a:lnTo>
                  <a:pt x="8478171" y="8347137"/>
                </a:lnTo>
                <a:lnTo>
                  <a:pt x="0" y="83471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000"/>
            </a:blip>
            <a:stretch>
              <a:fillRect b="0" l="0" r="0" t="-1500"/>
            </a:stretch>
          </a:blipFill>
          <a:ln>
            <a:noFill/>
          </a:ln>
        </p:spPr>
      </p:sp>
      <p:sp>
        <p:nvSpPr>
          <p:cNvPr id="18" name="Google Shape;18;p23"/>
          <p:cNvSpPr txBox="1"/>
          <p:nvPr/>
        </p:nvSpPr>
        <p:spPr>
          <a:xfrm>
            <a:off x="9143564" y="571507"/>
            <a:ext cx="2289000" cy="1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849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1"/>
              <a:buFont typeface="Arial"/>
              <a:buNone/>
            </a:pPr>
            <a:r>
              <a:rPr b="0" i="0" lang="en-US" sz="1191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DATI.COM.BR</a:t>
            </a:r>
            <a:endParaRPr b="0" i="0" sz="111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23"/>
          <p:cNvSpPr txBox="1"/>
          <p:nvPr/>
        </p:nvSpPr>
        <p:spPr>
          <a:xfrm>
            <a:off x="457207" y="571507"/>
            <a:ext cx="2289000" cy="1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49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1"/>
              <a:buFont typeface="Arial"/>
              <a:buNone/>
            </a:pPr>
            <a:r>
              <a:rPr b="0" i="0" lang="en-US" sz="1191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DATI | AI &amp; CLOUD</a:t>
            </a:r>
            <a:endParaRPr b="0" i="0" sz="111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6.jp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.png"/><Relationship Id="rId10" Type="http://schemas.openxmlformats.org/officeDocument/2006/relationships/image" Target="../media/image8.png"/><Relationship Id="rId13" Type="http://schemas.openxmlformats.org/officeDocument/2006/relationships/image" Target="../media/image14.png"/><Relationship Id="rId1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9" Type="http://schemas.openxmlformats.org/officeDocument/2006/relationships/image" Target="../media/image4.png"/><Relationship Id="rId5" Type="http://schemas.openxmlformats.org/officeDocument/2006/relationships/image" Target="../media/image62.png"/><Relationship Id="rId6" Type="http://schemas.openxmlformats.org/officeDocument/2006/relationships/image" Target="../media/image18.png"/><Relationship Id="rId7" Type="http://schemas.openxmlformats.org/officeDocument/2006/relationships/image" Target="../media/image12.png"/><Relationship Id="rId8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9.png"/><Relationship Id="rId9" Type="http://schemas.openxmlformats.org/officeDocument/2006/relationships/image" Target="../media/image22.png"/><Relationship Id="rId5" Type="http://schemas.openxmlformats.org/officeDocument/2006/relationships/image" Target="../media/image26.png"/><Relationship Id="rId6" Type="http://schemas.openxmlformats.org/officeDocument/2006/relationships/image" Target="../media/image56.png"/><Relationship Id="rId7" Type="http://schemas.openxmlformats.org/officeDocument/2006/relationships/image" Target="../media/image17.png"/><Relationship Id="rId8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5.png"/><Relationship Id="rId4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Relationship Id="rId4" Type="http://schemas.openxmlformats.org/officeDocument/2006/relationships/image" Target="../media/image24.png"/><Relationship Id="rId5" Type="http://schemas.openxmlformats.org/officeDocument/2006/relationships/image" Target="../media/image23.png"/><Relationship Id="rId6" Type="http://schemas.openxmlformats.org/officeDocument/2006/relationships/image" Target="../media/image3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0.png"/><Relationship Id="rId4" Type="http://schemas.openxmlformats.org/officeDocument/2006/relationships/image" Target="../media/image27.png"/><Relationship Id="rId5" Type="http://schemas.openxmlformats.org/officeDocument/2006/relationships/image" Target="../media/image38.png"/><Relationship Id="rId6" Type="http://schemas.openxmlformats.org/officeDocument/2006/relationships/image" Target="../media/image69.png"/><Relationship Id="rId7" Type="http://schemas.openxmlformats.org/officeDocument/2006/relationships/image" Target="../media/image50.png"/><Relationship Id="rId8" Type="http://schemas.openxmlformats.org/officeDocument/2006/relationships/image" Target="../media/image4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png"/><Relationship Id="rId4" Type="http://schemas.openxmlformats.org/officeDocument/2006/relationships/image" Target="../media/image43.png"/><Relationship Id="rId5" Type="http://schemas.openxmlformats.org/officeDocument/2006/relationships/image" Target="../media/image33.png"/><Relationship Id="rId6" Type="http://schemas.openxmlformats.org/officeDocument/2006/relationships/image" Target="../media/image3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8.png"/><Relationship Id="rId4" Type="http://schemas.openxmlformats.org/officeDocument/2006/relationships/image" Target="../media/image53.png"/><Relationship Id="rId5" Type="http://schemas.openxmlformats.org/officeDocument/2006/relationships/image" Target="../media/image3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8.png"/><Relationship Id="rId4" Type="http://schemas.openxmlformats.org/officeDocument/2006/relationships/image" Target="../media/image51.png"/><Relationship Id="rId5" Type="http://schemas.openxmlformats.org/officeDocument/2006/relationships/image" Target="../media/image58.png"/><Relationship Id="rId6" Type="http://schemas.openxmlformats.org/officeDocument/2006/relationships/image" Target="../media/image63.png"/><Relationship Id="rId7" Type="http://schemas.openxmlformats.org/officeDocument/2006/relationships/image" Target="../media/image3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8.png"/><Relationship Id="rId4" Type="http://schemas.openxmlformats.org/officeDocument/2006/relationships/image" Target="../media/image52.png"/><Relationship Id="rId5" Type="http://schemas.openxmlformats.org/officeDocument/2006/relationships/image" Target="../media/image48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0.png"/><Relationship Id="rId4" Type="http://schemas.openxmlformats.org/officeDocument/2006/relationships/image" Target="../media/image27.png"/><Relationship Id="rId5" Type="http://schemas.openxmlformats.org/officeDocument/2006/relationships/image" Target="../media/image64.png"/><Relationship Id="rId6" Type="http://schemas.openxmlformats.org/officeDocument/2006/relationships/image" Target="../media/image46.png"/><Relationship Id="rId7" Type="http://schemas.openxmlformats.org/officeDocument/2006/relationships/image" Target="../media/image6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8.png"/><Relationship Id="rId4" Type="http://schemas.openxmlformats.org/officeDocument/2006/relationships/image" Target="../media/image66.png"/><Relationship Id="rId5" Type="http://schemas.openxmlformats.org/officeDocument/2006/relationships/image" Target="../media/image59.png"/><Relationship Id="rId6" Type="http://schemas.openxmlformats.org/officeDocument/2006/relationships/image" Target="../media/image6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8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6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0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371791"/>
            </a:gs>
            <a:gs pos="33330">
              <a:srgbClr val="170041"/>
            </a:gs>
            <a:gs pos="66670">
              <a:srgbClr val="050C1A"/>
            </a:gs>
            <a:gs pos="100000">
              <a:srgbClr val="18041B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g3f6edb484d6_2_0"/>
          <p:cNvGrpSpPr/>
          <p:nvPr/>
        </p:nvGrpSpPr>
        <p:grpSpPr>
          <a:xfrm rot="438188">
            <a:off x="6806936" y="762419"/>
            <a:ext cx="4239517" cy="4794927"/>
            <a:chOff x="0" y="-47625"/>
            <a:chExt cx="1155000" cy="1306314"/>
          </a:xfrm>
        </p:grpSpPr>
        <p:sp>
          <p:nvSpPr>
            <p:cNvPr id="26" name="Google Shape;26;g3f6edb484d6_2_0"/>
            <p:cNvSpPr/>
            <p:nvPr/>
          </p:nvSpPr>
          <p:spPr>
            <a:xfrm>
              <a:off x="0" y="0"/>
              <a:ext cx="1154857" cy="1258689"/>
            </a:xfrm>
            <a:custGeom>
              <a:rect b="b" l="l" r="r" t="t"/>
              <a:pathLst>
                <a:path extrusionOk="0" h="1258689" w="1154857">
                  <a:moveTo>
                    <a:pt x="97405" y="0"/>
                  </a:moveTo>
                  <a:lnTo>
                    <a:pt x="1057452" y="0"/>
                  </a:lnTo>
                  <a:cubicBezTo>
                    <a:pt x="1083285" y="0"/>
                    <a:pt x="1108060" y="10262"/>
                    <a:pt x="1126327" y="28529"/>
                  </a:cubicBezTo>
                  <a:cubicBezTo>
                    <a:pt x="1144594" y="46796"/>
                    <a:pt x="1154857" y="71572"/>
                    <a:pt x="1154857" y="97405"/>
                  </a:cubicBezTo>
                  <a:lnTo>
                    <a:pt x="1154857" y="1161284"/>
                  </a:lnTo>
                  <a:cubicBezTo>
                    <a:pt x="1154857" y="1187117"/>
                    <a:pt x="1144594" y="1211893"/>
                    <a:pt x="1126327" y="1230160"/>
                  </a:cubicBezTo>
                  <a:cubicBezTo>
                    <a:pt x="1108060" y="1248427"/>
                    <a:pt x="1083285" y="1258689"/>
                    <a:pt x="1057452" y="1258689"/>
                  </a:cubicBezTo>
                  <a:lnTo>
                    <a:pt x="97405" y="1258689"/>
                  </a:lnTo>
                  <a:cubicBezTo>
                    <a:pt x="71572" y="1258689"/>
                    <a:pt x="46796" y="1248427"/>
                    <a:pt x="28529" y="1230160"/>
                  </a:cubicBezTo>
                  <a:cubicBezTo>
                    <a:pt x="10262" y="1211893"/>
                    <a:pt x="0" y="1187117"/>
                    <a:pt x="0" y="1161284"/>
                  </a:cubicBezTo>
                  <a:lnTo>
                    <a:pt x="0" y="97405"/>
                  </a:lnTo>
                  <a:cubicBezTo>
                    <a:pt x="0" y="71572"/>
                    <a:pt x="10262" y="46796"/>
                    <a:pt x="28529" y="28529"/>
                  </a:cubicBezTo>
                  <a:cubicBezTo>
                    <a:pt x="46796" y="10262"/>
                    <a:pt x="71572" y="0"/>
                    <a:pt x="97405" y="0"/>
                  </a:cubicBezTo>
                  <a:close/>
                </a:path>
              </a:pathLst>
            </a:custGeom>
            <a:gradFill>
              <a:gsLst>
                <a:gs pos="0">
                  <a:srgbClr val="3629D1">
                    <a:alpha val="45098"/>
                  </a:srgbClr>
                </a:gs>
                <a:gs pos="100000">
                  <a:srgbClr val="6F62FF">
                    <a:alpha val="18431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 cap="rnd" cmpd="sng" w="9525">
              <a:solidFill>
                <a:srgbClr val="C5DFFF">
                  <a:alpha val="32941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g3f6edb484d6_2_0"/>
            <p:cNvSpPr txBox="1"/>
            <p:nvPr/>
          </p:nvSpPr>
          <p:spPr>
            <a:xfrm>
              <a:off x="0" y="-47625"/>
              <a:ext cx="1155000" cy="130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3700" lIns="63700" spcFirstLastPara="1" rIns="63700" wrap="square" tIns="63700">
              <a:noAutofit/>
            </a:bodyPr>
            <a:lstStyle/>
            <a:p>
              <a:pPr indent="0" lvl="0" marL="0" marR="0" rtl="0" algn="ctr">
                <a:lnSpc>
                  <a:spcPct val="199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" name="Google Shape;28;g3f6edb484d6_2_0"/>
          <p:cNvSpPr/>
          <p:nvPr/>
        </p:nvSpPr>
        <p:spPr>
          <a:xfrm>
            <a:off x="6228955" y="466399"/>
            <a:ext cx="4973945" cy="4970631"/>
          </a:xfrm>
          <a:custGeom>
            <a:rect b="b" l="l" r="r" t="t"/>
            <a:pathLst>
              <a:path extrusionOk="0" h="7446638" w="7451603">
                <a:moveTo>
                  <a:pt x="0" y="0"/>
                </a:moveTo>
                <a:lnTo>
                  <a:pt x="7451603" y="0"/>
                </a:lnTo>
                <a:lnTo>
                  <a:pt x="7451603" y="7446638"/>
                </a:lnTo>
                <a:lnTo>
                  <a:pt x="0" y="74466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" name="Google Shape;29;g3f6edb484d6_2_0"/>
          <p:cNvSpPr/>
          <p:nvPr/>
        </p:nvSpPr>
        <p:spPr>
          <a:xfrm>
            <a:off x="6343574" y="663854"/>
            <a:ext cx="5149929" cy="5149929"/>
          </a:xfrm>
          <a:custGeom>
            <a:rect b="b" l="l" r="r" t="t"/>
            <a:pathLst>
              <a:path extrusionOk="0" h="7715250" w="7715250">
                <a:moveTo>
                  <a:pt x="0" y="0"/>
                </a:moveTo>
                <a:lnTo>
                  <a:pt x="7715250" y="0"/>
                </a:lnTo>
                <a:lnTo>
                  <a:pt x="7715250" y="7715250"/>
                </a:lnTo>
                <a:lnTo>
                  <a:pt x="0" y="77152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" name="Google Shape;30;g3f6edb484d6_2_0"/>
          <p:cNvSpPr/>
          <p:nvPr/>
        </p:nvSpPr>
        <p:spPr>
          <a:xfrm>
            <a:off x="1063387" y="926001"/>
            <a:ext cx="2550492" cy="1118832"/>
          </a:xfrm>
          <a:custGeom>
            <a:rect b="b" l="l" r="r" t="t"/>
            <a:pathLst>
              <a:path extrusionOk="0" h="972897" w="2217819">
                <a:moveTo>
                  <a:pt x="0" y="0"/>
                </a:moveTo>
                <a:lnTo>
                  <a:pt x="2217820" y="0"/>
                </a:lnTo>
                <a:lnTo>
                  <a:pt x="2217820" y="972897"/>
                </a:lnTo>
                <a:lnTo>
                  <a:pt x="0" y="9728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5960" r="0" t="0"/>
            </a:stretch>
          </a:blipFill>
          <a:ln>
            <a:noFill/>
          </a:ln>
        </p:spPr>
      </p:sp>
      <p:grpSp>
        <p:nvGrpSpPr>
          <p:cNvPr id="31" name="Google Shape;31;g3f6edb484d6_2_0"/>
          <p:cNvGrpSpPr/>
          <p:nvPr/>
        </p:nvGrpSpPr>
        <p:grpSpPr>
          <a:xfrm>
            <a:off x="1063378" y="5213234"/>
            <a:ext cx="2911444" cy="594115"/>
            <a:chOff x="0" y="-241101"/>
            <a:chExt cx="5822888" cy="1188230"/>
          </a:xfrm>
        </p:grpSpPr>
        <p:grpSp>
          <p:nvGrpSpPr>
            <p:cNvPr id="32" name="Google Shape;32;g3f6edb484d6_2_0"/>
            <p:cNvGrpSpPr/>
            <p:nvPr/>
          </p:nvGrpSpPr>
          <p:grpSpPr>
            <a:xfrm>
              <a:off x="0" y="-241101"/>
              <a:ext cx="5822888" cy="1188230"/>
              <a:chOff x="0" y="-47625"/>
              <a:chExt cx="1150200" cy="234712"/>
            </a:xfrm>
          </p:grpSpPr>
          <p:sp>
            <p:nvSpPr>
              <p:cNvPr id="33" name="Google Shape;33;g3f6edb484d6_2_0"/>
              <p:cNvSpPr/>
              <p:nvPr/>
            </p:nvSpPr>
            <p:spPr>
              <a:xfrm>
                <a:off x="0" y="0"/>
                <a:ext cx="1150195" cy="187087"/>
              </a:xfrm>
              <a:custGeom>
                <a:rect b="b" l="l" r="r" t="t"/>
                <a:pathLst>
                  <a:path extrusionOk="0" h="187087" w="1150195">
                    <a:moveTo>
                      <a:pt x="90411" y="0"/>
                    </a:moveTo>
                    <a:lnTo>
                      <a:pt x="1059785" y="0"/>
                    </a:lnTo>
                    <a:cubicBezTo>
                      <a:pt x="1083763" y="0"/>
                      <a:pt x="1106759" y="9525"/>
                      <a:pt x="1123715" y="26481"/>
                    </a:cubicBezTo>
                    <a:cubicBezTo>
                      <a:pt x="1140670" y="43436"/>
                      <a:pt x="1150195" y="66432"/>
                      <a:pt x="1150195" y="90411"/>
                    </a:cubicBezTo>
                    <a:lnTo>
                      <a:pt x="1150195" y="96677"/>
                    </a:lnTo>
                    <a:cubicBezTo>
                      <a:pt x="1150195" y="120655"/>
                      <a:pt x="1140670" y="143651"/>
                      <a:pt x="1123715" y="160607"/>
                    </a:cubicBezTo>
                    <a:cubicBezTo>
                      <a:pt x="1106759" y="177562"/>
                      <a:pt x="1083763" y="187087"/>
                      <a:pt x="1059785" y="187087"/>
                    </a:cubicBezTo>
                    <a:lnTo>
                      <a:pt x="90411" y="187087"/>
                    </a:lnTo>
                    <a:cubicBezTo>
                      <a:pt x="66432" y="187087"/>
                      <a:pt x="43436" y="177562"/>
                      <a:pt x="26481" y="160607"/>
                    </a:cubicBezTo>
                    <a:cubicBezTo>
                      <a:pt x="9525" y="143651"/>
                      <a:pt x="0" y="120655"/>
                      <a:pt x="0" y="96677"/>
                    </a:cubicBezTo>
                    <a:lnTo>
                      <a:pt x="0" y="90411"/>
                    </a:lnTo>
                    <a:cubicBezTo>
                      <a:pt x="0" y="66432"/>
                      <a:pt x="9525" y="43436"/>
                      <a:pt x="26481" y="26481"/>
                    </a:cubicBezTo>
                    <a:cubicBezTo>
                      <a:pt x="43436" y="9525"/>
                      <a:pt x="66432" y="0"/>
                      <a:pt x="90411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3629D1">
                      <a:alpha val="16078"/>
                    </a:srgbClr>
                  </a:gs>
                  <a:gs pos="33330">
                    <a:srgbClr val="6F62FF">
                      <a:alpha val="16078"/>
                    </a:srgbClr>
                  </a:gs>
                  <a:gs pos="66670">
                    <a:srgbClr val="ACA7E4">
                      <a:alpha val="16078"/>
                    </a:srgbClr>
                  </a:gs>
                  <a:gs pos="100000">
                    <a:srgbClr val="FFFFFF">
                      <a:alpha val="16078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60950" lIns="60950" spcFirstLastPara="1" rIns="60950" wrap="square" tIns="609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t/>
                </a:r>
                <a:endParaRPr b="0" i="0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34;g3f6edb484d6_2_0"/>
              <p:cNvSpPr txBox="1"/>
              <p:nvPr/>
            </p:nvSpPr>
            <p:spPr>
              <a:xfrm>
                <a:off x="0" y="-47625"/>
                <a:ext cx="1150200" cy="234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3875" lIns="33875" spcFirstLastPara="1" rIns="33875" wrap="square" tIns="33875">
                <a:noAutofit/>
              </a:bodyPr>
              <a:lstStyle/>
              <a:p>
                <a:pPr indent="0" lvl="0" marL="0" marR="0" rtl="0" algn="ctr">
                  <a:lnSpc>
                    <a:spcPct val="199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t/>
                </a:r>
                <a:endParaRPr b="0" i="0" sz="1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" name="Google Shape;35;g3f6edb484d6_2_0"/>
            <p:cNvGrpSpPr/>
            <p:nvPr/>
          </p:nvGrpSpPr>
          <p:grpSpPr>
            <a:xfrm>
              <a:off x="226915" y="324072"/>
              <a:ext cx="298948" cy="298948"/>
              <a:chOff x="0" y="0"/>
              <a:chExt cx="812800" cy="812800"/>
            </a:xfrm>
          </p:grpSpPr>
          <p:sp>
            <p:nvSpPr>
              <p:cNvPr id="36" name="Google Shape;36;g3f6edb484d6_2_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72E600"/>
                  </a:gs>
                  <a:gs pos="100000">
                    <a:srgbClr val="28A30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0950" lIns="60950" spcFirstLastPara="1" rIns="60950" wrap="square" tIns="609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t/>
                </a:r>
                <a:endParaRPr b="0" i="0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" name="Google Shape;37;g3f6edb484d6_2_0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3875" lIns="33875" spcFirstLastPara="1" rIns="33875" wrap="square" tIns="33875">
                <a:noAutofit/>
              </a:bodyPr>
              <a:lstStyle/>
              <a:p>
                <a:pPr indent="0" lvl="0" marL="0" marR="0" rtl="0" algn="ctr">
                  <a:lnSpc>
                    <a:spcPct val="199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t/>
                </a:r>
                <a:endParaRPr b="0" i="0" sz="1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8" name="Google Shape;38;g3f6edb484d6_2_0"/>
            <p:cNvSpPr txBox="1"/>
            <p:nvPr/>
          </p:nvSpPr>
          <p:spPr>
            <a:xfrm>
              <a:off x="793256" y="279709"/>
              <a:ext cx="4793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3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-US" sz="1500" u="none" cap="none" strike="noStrike">
                  <a:solidFill>
                    <a:srgbClr val="FFFFFF"/>
                  </a:solidFill>
                  <a:latin typeface="Manrope"/>
                  <a:ea typeface="Manrope"/>
                  <a:cs typeface="Manrope"/>
                  <a:sym typeface="Manrope"/>
                </a:rPr>
                <a:t>Consultoria em Cloud &amp; AI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" name="Google Shape;39;g3f6edb484d6_2_0"/>
          <p:cNvSpPr txBox="1"/>
          <p:nvPr/>
        </p:nvSpPr>
        <p:spPr>
          <a:xfrm>
            <a:off x="1063375" y="2423100"/>
            <a:ext cx="6229200" cy="14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Acelerando a Jornada</a:t>
            </a:r>
            <a:endParaRPr b="1" i="0" sz="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de adoção da nuvem</a:t>
            </a:r>
            <a:endParaRPr b="1" i="0" sz="3600" u="none" cap="none" strike="noStrike">
              <a:solidFill>
                <a:srgbClr val="FFFFF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0" name="Google Shape;40;g3f6edb484d6_2_0"/>
          <p:cNvSpPr txBox="1"/>
          <p:nvPr/>
        </p:nvSpPr>
        <p:spPr>
          <a:xfrm>
            <a:off x="1063375" y="3697475"/>
            <a:ext cx="4814700" cy="9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3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1900" u="none" cap="none" strike="noStrike">
                <a:solidFill>
                  <a:srgbClr val="C0C0C0"/>
                </a:solidFill>
                <a:latin typeface="Manrope"/>
                <a:ea typeface="Manrope"/>
                <a:cs typeface="Manrope"/>
                <a:sym typeface="Manrope"/>
              </a:rPr>
              <a:t>Como a experiência da Dati pode ajudar empresas a migrar e modernizar seus ambientes na nuvem AWS</a:t>
            </a:r>
            <a:endParaRPr b="0" i="0" sz="800" u="none" cap="none" strike="noStrike">
              <a:solidFill>
                <a:srgbClr val="C0C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oogle Shape;45;g3f6edb484d6_2_17"/>
          <p:cNvGrpSpPr/>
          <p:nvPr/>
        </p:nvGrpSpPr>
        <p:grpSpPr>
          <a:xfrm>
            <a:off x="407648" y="323876"/>
            <a:ext cx="11376939" cy="6100597"/>
            <a:chOff x="0" y="-47625"/>
            <a:chExt cx="4931700" cy="2644500"/>
          </a:xfrm>
        </p:grpSpPr>
        <p:sp>
          <p:nvSpPr>
            <p:cNvPr id="46" name="Google Shape;46;g3f6edb484d6_2_17"/>
            <p:cNvSpPr/>
            <p:nvPr/>
          </p:nvSpPr>
          <p:spPr>
            <a:xfrm>
              <a:off x="0" y="0"/>
              <a:ext cx="4931585" cy="2596775"/>
            </a:xfrm>
            <a:custGeom>
              <a:rect b="b" l="l" r="r" t="t"/>
              <a:pathLst>
                <a:path extrusionOk="0" h="2596775" w="4931585">
                  <a:moveTo>
                    <a:pt x="45367" y="0"/>
                  </a:moveTo>
                  <a:lnTo>
                    <a:pt x="4886218" y="0"/>
                  </a:lnTo>
                  <a:cubicBezTo>
                    <a:pt x="4898250" y="0"/>
                    <a:pt x="4909790" y="4780"/>
                    <a:pt x="4918298" y="13288"/>
                  </a:cubicBezTo>
                  <a:cubicBezTo>
                    <a:pt x="4926806" y="21796"/>
                    <a:pt x="4931585" y="33335"/>
                    <a:pt x="4931585" y="45367"/>
                  </a:cubicBezTo>
                  <a:lnTo>
                    <a:pt x="4931585" y="2551408"/>
                  </a:lnTo>
                  <a:cubicBezTo>
                    <a:pt x="4931585" y="2576463"/>
                    <a:pt x="4911274" y="2596775"/>
                    <a:pt x="4886218" y="2596775"/>
                  </a:cubicBezTo>
                  <a:lnTo>
                    <a:pt x="45367" y="2596775"/>
                  </a:lnTo>
                  <a:cubicBezTo>
                    <a:pt x="33335" y="2596775"/>
                    <a:pt x="21796" y="2591995"/>
                    <a:pt x="13288" y="2583487"/>
                  </a:cubicBezTo>
                  <a:cubicBezTo>
                    <a:pt x="4780" y="2574979"/>
                    <a:pt x="0" y="2563440"/>
                    <a:pt x="0" y="2551408"/>
                  </a:cubicBezTo>
                  <a:lnTo>
                    <a:pt x="0" y="45367"/>
                  </a:lnTo>
                  <a:cubicBezTo>
                    <a:pt x="0" y="33335"/>
                    <a:pt x="4780" y="21796"/>
                    <a:pt x="13288" y="13288"/>
                  </a:cubicBezTo>
                  <a:cubicBezTo>
                    <a:pt x="21796" y="4780"/>
                    <a:pt x="33335" y="0"/>
                    <a:pt x="45367" y="0"/>
                  </a:cubicBezTo>
                  <a:close/>
                </a:path>
              </a:pathLst>
            </a:custGeom>
            <a:solidFill>
              <a:srgbClr val="EDF0F2"/>
            </a:solidFill>
            <a:ln cap="rnd" cmpd="sng" w="12700">
              <a:solidFill>
                <a:srgbClr val="B092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g3f6edb484d6_2_17"/>
            <p:cNvSpPr txBox="1"/>
            <p:nvPr/>
          </p:nvSpPr>
          <p:spPr>
            <a:xfrm>
              <a:off x="0" y="-47625"/>
              <a:ext cx="4931700" cy="264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" name="Google Shape;48;g3f6edb484d6_2_17"/>
          <p:cNvSpPr/>
          <p:nvPr/>
        </p:nvSpPr>
        <p:spPr>
          <a:xfrm flipH="1">
            <a:off x="6833900" y="1549333"/>
            <a:ext cx="2877928" cy="3949128"/>
          </a:xfrm>
          <a:custGeom>
            <a:rect b="b" l="l" r="r" t="t"/>
            <a:pathLst>
              <a:path extrusionOk="0" h="5916297" w="4311502">
                <a:moveTo>
                  <a:pt x="4311502" y="0"/>
                </a:moveTo>
                <a:lnTo>
                  <a:pt x="0" y="0"/>
                </a:lnTo>
                <a:lnTo>
                  <a:pt x="0" y="5916298"/>
                </a:lnTo>
                <a:lnTo>
                  <a:pt x="4311502" y="5916298"/>
                </a:lnTo>
                <a:lnTo>
                  <a:pt x="4311502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9" name="Google Shape;49;g3f6edb484d6_2_17"/>
          <p:cNvSpPr/>
          <p:nvPr/>
        </p:nvSpPr>
        <p:spPr>
          <a:xfrm>
            <a:off x="7849483" y="2535698"/>
            <a:ext cx="3344601" cy="3381178"/>
          </a:xfrm>
          <a:custGeom>
            <a:rect b="b" l="l" r="r" t="t"/>
            <a:pathLst>
              <a:path extrusionOk="0" h="3331210" w="3295173">
                <a:moveTo>
                  <a:pt x="0" y="0"/>
                </a:moveTo>
                <a:lnTo>
                  <a:pt x="3295173" y="0"/>
                </a:lnTo>
                <a:cubicBezTo>
                  <a:pt x="3295173" y="1840230"/>
                  <a:pt x="1820323" y="3331210"/>
                  <a:pt x="0" y="3331210"/>
                </a:cubicBez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8720" r="-13009" t="0"/>
            </a:stretch>
          </a:blip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g3f6edb484d6_2_17"/>
          <p:cNvSpPr/>
          <p:nvPr/>
        </p:nvSpPr>
        <p:spPr>
          <a:xfrm>
            <a:off x="1151149" y="1877438"/>
            <a:ext cx="350803" cy="350803"/>
          </a:xfrm>
          <a:custGeom>
            <a:rect b="b" l="l" r="r" t="t"/>
            <a:pathLst>
              <a:path extrusionOk="0" h="525548" w="525548">
                <a:moveTo>
                  <a:pt x="0" y="0"/>
                </a:moveTo>
                <a:lnTo>
                  <a:pt x="525548" y="0"/>
                </a:lnTo>
                <a:lnTo>
                  <a:pt x="525548" y="525548"/>
                </a:lnTo>
                <a:lnTo>
                  <a:pt x="0" y="5255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1" name="Google Shape;51;g3f6edb484d6_2_17"/>
          <p:cNvSpPr txBox="1"/>
          <p:nvPr/>
        </p:nvSpPr>
        <p:spPr>
          <a:xfrm>
            <a:off x="1671171" y="1884040"/>
            <a:ext cx="2426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1A0F3D"/>
                </a:solidFill>
                <a:latin typeface="Manrope"/>
                <a:ea typeface="Manrope"/>
                <a:cs typeface="Manrope"/>
                <a:sym typeface="Manrope"/>
              </a:rPr>
              <a:t>Quem somos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g3f6edb484d6_2_17"/>
          <p:cNvSpPr txBox="1"/>
          <p:nvPr/>
        </p:nvSpPr>
        <p:spPr>
          <a:xfrm>
            <a:off x="1206375" y="2518100"/>
            <a:ext cx="4842000" cy="30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97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800" u="none" cap="none" strike="noStrike">
                <a:solidFill>
                  <a:srgbClr val="6838E8"/>
                </a:solidFill>
                <a:latin typeface="Manrope"/>
                <a:ea typeface="Manrope"/>
                <a:cs typeface="Manrope"/>
                <a:sym typeface="Manrope"/>
              </a:rPr>
              <a:t>A Dati é uma consultoria especializada em </a:t>
            </a:r>
            <a:r>
              <a:rPr b="1" i="0" lang="en-US" sz="1800" u="none" cap="none" strike="noStrike">
                <a:solidFill>
                  <a:srgbClr val="6838E8"/>
                </a:solidFill>
                <a:latin typeface="Manrope"/>
                <a:ea typeface="Manrope"/>
                <a:cs typeface="Manrope"/>
                <a:sym typeface="Manrope"/>
              </a:rPr>
              <a:t>cloud</a:t>
            </a:r>
            <a:r>
              <a:rPr b="0" i="0" lang="en-US" sz="1800" u="none" cap="none" strike="noStrike">
                <a:solidFill>
                  <a:srgbClr val="6838E8"/>
                </a:solidFill>
                <a:latin typeface="Manrope"/>
                <a:ea typeface="Manrope"/>
                <a:cs typeface="Manrope"/>
                <a:sym typeface="Manrope"/>
              </a:rPr>
              <a:t>, </a:t>
            </a:r>
            <a:r>
              <a:rPr b="1" i="0" lang="en-US" sz="1800" u="none" cap="none" strike="noStrike">
                <a:solidFill>
                  <a:srgbClr val="6838E8"/>
                </a:solidFill>
                <a:latin typeface="Manrope"/>
                <a:ea typeface="Manrope"/>
                <a:cs typeface="Manrope"/>
                <a:sym typeface="Manrope"/>
              </a:rPr>
              <a:t>dados</a:t>
            </a:r>
            <a:r>
              <a:rPr b="0" i="0" lang="en-US" sz="1800" u="none" cap="none" strike="noStrike">
                <a:solidFill>
                  <a:srgbClr val="6838E8"/>
                </a:solidFill>
                <a:latin typeface="Manrope"/>
                <a:ea typeface="Manrope"/>
                <a:cs typeface="Manrope"/>
                <a:sym typeface="Manrope"/>
              </a:rPr>
              <a:t> e </a:t>
            </a:r>
            <a:r>
              <a:rPr b="1" i="0" lang="en-US" sz="1800" u="none" cap="none" strike="noStrike">
                <a:solidFill>
                  <a:srgbClr val="6838E8"/>
                </a:solidFill>
                <a:latin typeface="Manrope"/>
                <a:ea typeface="Manrope"/>
                <a:cs typeface="Manrope"/>
                <a:sym typeface="Manrope"/>
              </a:rPr>
              <a:t>inteligência artificial</a:t>
            </a:r>
            <a:r>
              <a:rPr b="0" i="0" lang="en-US" sz="1800" u="none" cap="none" strike="noStrike">
                <a:solidFill>
                  <a:srgbClr val="6838E8"/>
                </a:solidFill>
                <a:latin typeface="Manrope"/>
                <a:ea typeface="Manrope"/>
                <a:cs typeface="Manrope"/>
                <a:sym typeface="Manrope"/>
              </a:rPr>
              <a:t>, que combina </a:t>
            </a:r>
            <a:r>
              <a:rPr b="1" i="0" lang="en-US" sz="1800" u="none" cap="none" strike="noStrike">
                <a:solidFill>
                  <a:srgbClr val="6838E8"/>
                </a:solidFill>
                <a:latin typeface="Manrope"/>
                <a:ea typeface="Manrope"/>
                <a:cs typeface="Manrope"/>
                <a:sym typeface="Manrope"/>
              </a:rPr>
              <a:t>engenharia</a:t>
            </a:r>
            <a:r>
              <a:rPr b="0" i="0" lang="en-US" sz="1800" u="none" cap="none" strike="noStrike">
                <a:solidFill>
                  <a:srgbClr val="6838E8"/>
                </a:solidFill>
                <a:latin typeface="Manrope"/>
                <a:ea typeface="Manrope"/>
                <a:cs typeface="Manrope"/>
                <a:sym typeface="Manrope"/>
              </a:rPr>
              <a:t> e </a:t>
            </a:r>
            <a:r>
              <a:rPr b="1" i="0" lang="en-US" sz="1800" u="none" cap="none" strike="noStrike">
                <a:solidFill>
                  <a:srgbClr val="6838E8"/>
                </a:solidFill>
                <a:latin typeface="Manrope"/>
                <a:ea typeface="Manrope"/>
                <a:cs typeface="Manrope"/>
                <a:sym typeface="Manrope"/>
              </a:rPr>
              <a:t>serviços gerenciados</a:t>
            </a:r>
            <a:r>
              <a:rPr b="0" i="0" lang="en-US" sz="1800" u="none" cap="none" strike="noStrike">
                <a:solidFill>
                  <a:srgbClr val="6838E8"/>
                </a:solidFill>
                <a:latin typeface="Manrope"/>
                <a:ea typeface="Manrope"/>
                <a:cs typeface="Manrope"/>
                <a:sym typeface="Manrope"/>
              </a:rPr>
              <a:t> (MSP) para </a:t>
            </a:r>
            <a:r>
              <a:rPr b="1" i="0" lang="en-US" sz="1800" u="none" cap="none" strike="noStrike">
                <a:solidFill>
                  <a:srgbClr val="6838E8"/>
                </a:solidFill>
                <a:latin typeface="Manrope"/>
                <a:ea typeface="Manrope"/>
                <a:cs typeface="Manrope"/>
                <a:sym typeface="Manrope"/>
              </a:rPr>
              <a:t>desenhar</a:t>
            </a:r>
            <a:r>
              <a:rPr b="0" i="0" lang="en-US" sz="1800" u="none" cap="none" strike="noStrike">
                <a:solidFill>
                  <a:srgbClr val="6838E8"/>
                </a:solidFill>
                <a:latin typeface="Manrope"/>
                <a:ea typeface="Manrope"/>
                <a:cs typeface="Manrope"/>
                <a:sym typeface="Manrope"/>
              </a:rPr>
              <a:t>, </a:t>
            </a:r>
            <a:r>
              <a:rPr b="1" i="0" lang="en-US" sz="1800" u="none" cap="none" strike="noStrike">
                <a:solidFill>
                  <a:srgbClr val="6838E8"/>
                </a:solidFill>
                <a:latin typeface="Manrope"/>
                <a:ea typeface="Manrope"/>
                <a:cs typeface="Manrope"/>
                <a:sym typeface="Manrope"/>
              </a:rPr>
              <a:t>implementar</a:t>
            </a:r>
            <a:r>
              <a:rPr b="0" i="0" lang="en-US" sz="1800" u="none" cap="none" strike="noStrike">
                <a:solidFill>
                  <a:srgbClr val="6838E8"/>
                </a:solidFill>
                <a:latin typeface="Manrope"/>
                <a:ea typeface="Manrope"/>
                <a:cs typeface="Manrope"/>
                <a:sym typeface="Manrope"/>
              </a:rPr>
              <a:t> e </a:t>
            </a:r>
            <a:r>
              <a:rPr b="1" i="0" lang="en-US" sz="1800" u="none" cap="none" strike="noStrike">
                <a:solidFill>
                  <a:srgbClr val="6838E8"/>
                </a:solidFill>
                <a:latin typeface="Manrope"/>
                <a:ea typeface="Manrope"/>
                <a:cs typeface="Manrope"/>
                <a:sym typeface="Manrope"/>
              </a:rPr>
              <a:t>operar</a:t>
            </a:r>
            <a:r>
              <a:rPr b="0" i="0" lang="en-US" sz="1800" u="none" cap="none" strike="noStrike">
                <a:solidFill>
                  <a:srgbClr val="6838E8"/>
                </a:solidFill>
                <a:latin typeface="Manrope"/>
                <a:ea typeface="Manrope"/>
                <a:cs typeface="Manrope"/>
                <a:sym typeface="Manrope"/>
              </a:rPr>
              <a:t> ambientes na AWS com </a:t>
            </a:r>
            <a:r>
              <a:rPr b="1" i="0" lang="en-US" sz="1800" u="none" cap="none" strike="noStrike">
                <a:solidFill>
                  <a:srgbClr val="6838E8"/>
                </a:solidFill>
                <a:latin typeface="Manrope"/>
                <a:ea typeface="Manrope"/>
                <a:cs typeface="Manrope"/>
                <a:sym typeface="Manrope"/>
              </a:rPr>
              <a:t>governança</a:t>
            </a:r>
            <a:r>
              <a:rPr b="0" i="0" lang="en-US" sz="1800" u="none" cap="none" strike="noStrike">
                <a:solidFill>
                  <a:srgbClr val="6838E8"/>
                </a:solidFill>
                <a:latin typeface="Manrope"/>
                <a:ea typeface="Manrope"/>
                <a:cs typeface="Manrope"/>
                <a:sym typeface="Manrope"/>
              </a:rPr>
              <a:t>, </a:t>
            </a:r>
            <a:r>
              <a:rPr b="1" i="0" lang="en-US" sz="1800" u="none" cap="none" strike="noStrike">
                <a:solidFill>
                  <a:srgbClr val="6838E8"/>
                </a:solidFill>
                <a:latin typeface="Manrope"/>
                <a:ea typeface="Manrope"/>
                <a:cs typeface="Manrope"/>
                <a:sym typeface="Manrope"/>
              </a:rPr>
              <a:t>segurança</a:t>
            </a:r>
            <a:r>
              <a:rPr b="0" i="0" lang="en-US" sz="1800" u="none" cap="none" strike="noStrike">
                <a:solidFill>
                  <a:srgbClr val="6838E8"/>
                </a:solidFill>
                <a:latin typeface="Manrope"/>
                <a:ea typeface="Manrope"/>
                <a:cs typeface="Manrope"/>
                <a:sym typeface="Manrope"/>
              </a:rPr>
              <a:t>, </a:t>
            </a:r>
            <a:r>
              <a:rPr b="1" i="0" lang="en-US" sz="1800" u="none" cap="none" strike="noStrike">
                <a:solidFill>
                  <a:srgbClr val="6838E8"/>
                </a:solidFill>
                <a:latin typeface="Manrope"/>
                <a:ea typeface="Manrope"/>
                <a:cs typeface="Manrope"/>
                <a:sym typeface="Manrope"/>
              </a:rPr>
              <a:t>resiliência</a:t>
            </a:r>
            <a:r>
              <a:rPr b="0" i="0" lang="en-US" sz="1800" u="none" cap="none" strike="noStrike">
                <a:solidFill>
                  <a:srgbClr val="6838E8"/>
                </a:solidFill>
                <a:latin typeface="Manrope"/>
                <a:ea typeface="Manrope"/>
                <a:cs typeface="Manrope"/>
                <a:sym typeface="Manrope"/>
              </a:rPr>
              <a:t> e </a:t>
            </a:r>
            <a:r>
              <a:rPr b="1" i="0" lang="en-US" sz="1800" u="none" cap="none" strike="noStrike">
                <a:solidFill>
                  <a:srgbClr val="6838E8"/>
                </a:solidFill>
                <a:latin typeface="Manrope"/>
                <a:ea typeface="Manrope"/>
                <a:cs typeface="Manrope"/>
                <a:sym typeface="Manrope"/>
              </a:rPr>
              <a:t>eficiência</a:t>
            </a:r>
            <a:r>
              <a:rPr b="0" i="0" lang="en-US" sz="1800" u="none" cap="none" strike="noStrike">
                <a:solidFill>
                  <a:srgbClr val="6838E8"/>
                </a:solidFill>
                <a:latin typeface="Manrope"/>
                <a:ea typeface="Manrope"/>
                <a:cs typeface="Manrope"/>
                <a:sym typeface="Manrope"/>
              </a:rPr>
              <a:t> </a:t>
            </a:r>
            <a:r>
              <a:rPr b="1" i="0" lang="en-US" sz="1800" u="none" cap="none" strike="noStrike">
                <a:solidFill>
                  <a:srgbClr val="6838E8"/>
                </a:solidFill>
                <a:latin typeface="Manrope"/>
                <a:ea typeface="Manrope"/>
                <a:cs typeface="Manrope"/>
                <a:sym typeface="Manrope"/>
              </a:rPr>
              <a:t>de</a:t>
            </a:r>
            <a:r>
              <a:rPr b="0" i="0" lang="en-US" sz="1800" u="none" cap="none" strike="noStrike">
                <a:solidFill>
                  <a:srgbClr val="6838E8"/>
                </a:solidFill>
                <a:latin typeface="Manrope"/>
                <a:ea typeface="Manrope"/>
                <a:cs typeface="Manrope"/>
                <a:sym typeface="Manrope"/>
              </a:rPr>
              <a:t> </a:t>
            </a:r>
            <a:r>
              <a:rPr b="1" i="0" lang="en-US" sz="1800" u="none" cap="none" strike="noStrike">
                <a:solidFill>
                  <a:srgbClr val="6838E8"/>
                </a:solidFill>
                <a:latin typeface="Manrope"/>
                <a:ea typeface="Manrope"/>
                <a:cs typeface="Manrope"/>
                <a:sym typeface="Manrope"/>
              </a:rPr>
              <a:t>custos</a:t>
            </a:r>
            <a:r>
              <a:rPr b="0" i="0" lang="en-US" sz="1800" u="none" cap="none" strike="noStrike">
                <a:solidFill>
                  <a:srgbClr val="6838E8"/>
                </a:solidFill>
                <a:latin typeface="Manrope"/>
                <a:ea typeface="Manrope"/>
                <a:cs typeface="Manrope"/>
                <a:sym typeface="Manrope"/>
              </a:rPr>
              <a:t>. Em vez de atuar só por demanda, a Dati assume a </a:t>
            </a:r>
            <a:r>
              <a:rPr b="1" i="0" lang="en-US" sz="1800" u="none" cap="none" strike="noStrike">
                <a:solidFill>
                  <a:srgbClr val="6838E8"/>
                </a:solidFill>
                <a:latin typeface="Manrope"/>
                <a:ea typeface="Manrope"/>
                <a:cs typeface="Manrope"/>
                <a:sym typeface="Manrope"/>
              </a:rPr>
              <a:t>responsabilidade</a:t>
            </a:r>
            <a:r>
              <a:rPr b="0" i="0" lang="en-US" sz="1800" u="none" cap="none" strike="noStrike">
                <a:solidFill>
                  <a:srgbClr val="6838E8"/>
                </a:solidFill>
                <a:latin typeface="Manrope"/>
                <a:ea typeface="Manrope"/>
                <a:cs typeface="Manrope"/>
                <a:sym typeface="Manrope"/>
              </a:rPr>
              <a:t> pela </a:t>
            </a:r>
            <a:r>
              <a:rPr b="1" i="0" lang="en-US" sz="1800" u="none" cap="none" strike="noStrike">
                <a:solidFill>
                  <a:srgbClr val="6838E8"/>
                </a:solidFill>
                <a:latin typeface="Manrope"/>
                <a:ea typeface="Manrope"/>
                <a:cs typeface="Manrope"/>
                <a:sym typeface="Manrope"/>
              </a:rPr>
              <a:t>jornada</a:t>
            </a:r>
            <a:r>
              <a:rPr b="0" i="0" lang="en-US" sz="1800" u="none" cap="none" strike="noStrike">
                <a:solidFill>
                  <a:srgbClr val="6838E8"/>
                </a:solidFill>
                <a:latin typeface="Manrope"/>
                <a:ea typeface="Manrope"/>
                <a:cs typeface="Manrope"/>
                <a:sym typeface="Manrope"/>
              </a:rPr>
              <a:t> </a:t>
            </a:r>
            <a:r>
              <a:rPr b="1" i="0" lang="en-US" sz="1800" u="none" cap="none" strike="noStrike">
                <a:solidFill>
                  <a:srgbClr val="6838E8"/>
                </a:solidFill>
                <a:latin typeface="Manrope"/>
                <a:ea typeface="Manrope"/>
                <a:cs typeface="Manrope"/>
                <a:sym typeface="Manrope"/>
              </a:rPr>
              <a:t>completa</a:t>
            </a:r>
            <a:r>
              <a:rPr b="0" i="0" lang="en-US" sz="1800" u="none" cap="none" strike="noStrike">
                <a:solidFill>
                  <a:srgbClr val="6838E8"/>
                </a:solidFill>
                <a:latin typeface="Manrope"/>
                <a:ea typeface="Manrope"/>
                <a:cs typeface="Manrope"/>
                <a:sym typeface="Manrope"/>
              </a:rPr>
              <a:t> — do </a:t>
            </a:r>
            <a:r>
              <a:rPr b="1" i="0" lang="en-US" sz="1800" u="none" cap="none" strike="noStrike">
                <a:solidFill>
                  <a:srgbClr val="6838E8"/>
                </a:solidFill>
                <a:latin typeface="Manrope"/>
                <a:ea typeface="Manrope"/>
                <a:cs typeface="Manrope"/>
                <a:sym typeface="Manrope"/>
              </a:rPr>
              <a:t>diagnóstico</a:t>
            </a:r>
            <a:r>
              <a:rPr b="0" i="0" lang="en-US" sz="1800" u="none" cap="none" strike="noStrike">
                <a:solidFill>
                  <a:srgbClr val="6838E8"/>
                </a:solidFill>
                <a:latin typeface="Manrope"/>
                <a:ea typeface="Manrope"/>
                <a:cs typeface="Manrope"/>
                <a:sym typeface="Manrope"/>
              </a:rPr>
              <a:t> à </a:t>
            </a:r>
            <a:r>
              <a:rPr b="1" i="0" lang="en-US" sz="1800" u="none" cap="none" strike="noStrike">
                <a:solidFill>
                  <a:srgbClr val="6838E8"/>
                </a:solidFill>
                <a:latin typeface="Manrope"/>
                <a:ea typeface="Manrope"/>
                <a:cs typeface="Manrope"/>
                <a:sym typeface="Manrope"/>
              </a:rPr>
              <a:t>melhoria</a:t>
            </a:r>
            <a:r>
              <a:rPr b="0" i="0" lang="en-US" sz="1800" u="none" cap="none" strike="noStrike">
                <a:solidFill>
                  <a:srgbClr val="6838E8"/>
                </a:solidFill>
                <a:latin typeface="Manrope"/>
                <a:ea typeface="Manrope"/>
                <a:cs typeface="Manrope"/>
                <a:sym typeface="Manrope"/>
              </a:rPr>
              <a:t> contínua — com foco em </a:t>
            </a:r>
            <a:r>
              <a:rPr b="1" i="0" lang="en-US" sz="1800" u="none" cap="none" strike="noStrike">
                <a:solidFill>
                  <a:srgbClr val="6838E8"/>
                </a:solidFill>
                <a:latin typeface="Manrope"/>
                <a:ea typeface="Manrope"/>
                <a:cs typeface="Manrope"/>
                <a:sym typeface="Manrope"/>
              </a:rPr>
              <a:t>impacto</a:t>
            </a:r>
            <a:r>
              <a:rPr b="0" i="0" lang="en-US" sz="1800" u="none" cap="none" strike="noStrike">
                <a:solidFill>
                  <a:srgbClr val="6838E8"/>
                </a:solidFill>
                <a:latin typeface="Manrope"/>
                <a:ea typeface="Manrope"/>
                <a:cs typeface="Manrope"/>
                <a:sym typeface="Manrope"/>
              </a:rPr>
              <a:t> real no </a:t>
            </a:r>
            <a:r>
              <a:rPr b="1" i="0" lang="en-US" sz="1800" u="none" cap="none" strike="noStrike">
                <a:solidFill>
                  <a:srgbClr val="6838E8"/>
                </a:solidFill>
                <a:latin typeface="Manrope"/>
                <a:ea typeface="Manrope"/>
                <a:cs typeface="Manrope"/>
                <a:sym typeface="Manrope"/>
              </a:rPr>
              <a:t>negócio</a:t>
            </a:r>
            <a:r>
              <a:rPr b="0" i="0" lang="en-US" sz="1800" u="none" cap="none" strike="noStrike">
                <a:solidFill>
                  <a:srgbClr val="6838E8"/>
                </a:solidFill>
                <a:latin typeface="Manrope"/>
                <a:ea typeface="Manrope"/>
                <a:cs typeface="Manrope"/>
                <a:sym typeface="Manrope"/>
              </a:rPr>
              <a:t>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g3f6edb484d6_2_17"/>
          <p:cNvSpPr txBox="1"/>
          <p:nvPr/>
        </p:nvSpPr>
        <p:spPr>
          <a:xfrm>
            <a:off x="9888200" y="1549333"/>
            <a:ext cx="1304400" cy="9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3629D1"/>
                </a:solidFill>
                <a:latin typeface="Manrope"/>
                <a:ea typeface="Manrope"/>
                <a:cs typeface="Manrope"/>
                <a:sym typeface="Manrope"/>
              </a:rPr>
              <a:t>Somos o time que assume o desafio junto com você.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F0F2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g3f6edb484d6_2_29"/>
          <p:cNvGrpSpPr/>
          <p:nvPr/>
        </p:nvGrpSpPr>
        <p:grpSpPr>
          <a:xfrm>
            <a:off x="5118067" y="1952945"/>
            <a:ext cx="2453274" cy="2453274"/>
            <a:chOff x="0" y="0"/>
            <a:chExt cx="812800" cy="812800"/>
          </a:xfrm>
        </p:grpSpPr>
        <p:sp>
          <p:nvSpPr>
            <p:cNvPr id="59" name="Google Shape;59;g3f6edb484d6_2_2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6F62FF"/>
                </a:gs>
                <a:gs pos="50000">
                  <a:srgbClr val="3629D1"/>
                </a:gs>
                <a:gs pos="100000">
                  <a:srgbClr val="00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g3f6edb484d6_2_29"/>
            <p:cNvSpPr txBox="1"/>
            <p:nvPr/>
          </p:nvSpPr>
          <p:spPr>
            <a:xfrm>
              <a:off x="76200" y="47625"/>
              <a:ext cx="660300" cy="68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475" lIns="42475" spcFirstLastPara="1" rIns="42475" wrap="square" tIns="42475">
              <a:noAutofit/>
            </a:bodyPr>
            <a:lstStyle/>
            <a:p>
              <a:pPr indent="0" lvl="0" marL="0" marR="0" rtl="0" algn="ctr">
                <a:lnSpc>
                  <a:spcPct val="13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1" name="Google Shape;61;g3f6edb484d6_2_29"/>
          <p:cNvSpPr/>
          <p:nvPr/>
        </p:nvSpPr>
        <p:spPr>
          <a:xfrm>
            <a:off x="5321791" y="2176565"/>
            <a:ext cx="2048381" cy="2044113"/>
          </a:xfrm>
          <a:custGeom>
            <a:rect b="b" l="l" r="r" t="t"/>
            <a:pathLst>
              <a:path extrusionOk="0" h="3062342" w="3068735">
                <a:moveTo>
                  <a:pt x="0" y="0"/>
                </a:moveTo>
                <a:lnTo>
                  <a:pt x="3068736" y="0"/>
                </a:lnTo>
                <a:lnTo>
                  <a:pt x="3068736" y="3062342"/>
                </a:lnTo>
                <a:lnTo>
                  <a:pt x="0" y="30623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2" name="Google Shape;62;g3f6edb484d6_2_29"/>
          <p:cNvSpPr/>
          <p:nvPr/>
        </p:nvSpPr>
        <p:spPr>
          <a:xfrm>
            <a:off x="5831116" y="2422391"/>
            <a:ext cx="1024191" cy="576107"/>
          </a:xfrm>
          <a:custGeom>
            <a:rect b="b" l="l" r="r" t="t"/>
            <a:pathLst>
              <a:path extrusionOk="0" h="863082" w="1534368">
                <a:moveTo>
                  <a:pt x="0" y="0"/>
                </a:moveTo>
                <a:lnTo>
                  <a:pt x="1534367" y="0"/>
                </a:lnTo>
                <a:lnTo>
                  <a:pt x="1534367" y="863082"/>
                </a:lnTo>
                <a:lnTo>
                  <a:pt x="0" y="8630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3" name="Google Shape;63;g3f6edb484d6_2_29"/>
          <p:cNvSpPr/>
          <p:nvPr/>
        </p:nvSpPr>
        <p:spPr>
          <a:xfrm>
            <a:off x="5321791" y="2117743"/>
            <a:ext cx="2044113" cy="2044113"/>
          </a:xfrm>
          <a:custGeom>
            <a:rect b="b" l="l" r="r" t="t"/>
            <a:pathLst>
              <a:path extrusionOk="0" h="3062342" w="3062342">
                <a:moveTo>
                  <a:pt x="0" y="0"/>
                </a:moveTo>
                <a:lnTo>
                  <a:pt x="3062343" y="0"/>
                </a:lnTo>
                <a:lnTo>
                  <a:pt x="3062343" y="3062342"/>
                </a:lnTo>
                <a:lnTo>
                  <a:pt x="0" y="30623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26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4" name="Google Shape;64;g3f6edb484d6_2_29"/>
          <p:cNvSpPr/>
          <p:nvPr/>
        </p:nvSpPr>
        <p:spPr>
          <a:xfrm>
            <a:off x="5092675" y="1944402"/>
            <a:ext cx="2507185" cy="2391227"/>
          </a:xfrm>
          <a:custGeom>
            <a:rect b="b" l="l" r="r" t="t"/>
            <a:pathLst>
              <a:path extrusionOk="0" h="3582363" w="3756082">
                <a:moveTo>
                  <a:pt x="0" y="0"/>
                </a:moveTo>
                <a:lnTo>
                  <a:pt x="3756082" y="0"/>
                </a:lnTo>
                <a:lnTo>
                  <a:pt x="3756082" y="3582363"/>
                </a:lnTo>
                <a:lnTo>
                  <a:pt x="0" y="35823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5" name="Google Shape;65;g3f6edb484d6_2_29"/>
          <p:cNvSpPr/>
          <p:nvPr/>
        </p:nvSpPr>
        <p:spPr>
          <a:xfrm>
            <a:off x="3501792" y="6172200"/>
            <a:ext cx="5652683" cy="706585"/>
          </a:xfrm>
          <a:custGeom>
            <a:rect b="b" l="l" r="r" t="t"/>
            <a:pathLst>
              <a:path extrusionOk="0" h="1058555" w="8468439">
                <a:moveTo>
                  <a:pt x="0" y="0"/>
                </a:moveTo>
                <a:lnTo>
                  <a:pt x="8468438" y="0"/>
                </a:lnTo>
                <a:lnTo>
                  <a:pt x="8468438" y="1058555"/>
                </a:lnTo>
                <a:lnTo>
                  <a:pt x="0" y="10585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35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6" name="Google Shape;66;g3f6edb484d6_2_29"/>
          <p:cNvSpPr/>
          <p:nvPr/>
        </p:nvSpPr>
        <p:spPr>
          <a:xfrm>
            <a:off x="4089053" y="2812181"/>
            <a:ext cx="653501" cy="653501"/>
          </a:xfrm>
          <a:custGeom>
            <a:rect b="b" l="l" r="r" t="t"/>
            <a:pathLst>
              <a:path extrusionOk="0" h="979028" w="979028">
                <a:moveTo>
                  <a:pt x="0" y="0"/>
                </a:moveTo>
                <a:lnTo>
                  <a:pt x="979028" y="0"/>
                </a:lnTo>
                <a:lnTo>
                  <a:pt x="979028" y="979027"/>
                </a:lnTo>
                <a:lnTo>
                  <a:pt x="0" y="9790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7" name="Google Shape;67;g3f6edb484d6_2_29"/>
          <p:cNvSpPr/>
          <p:nvPr/>
        </p:nvSpPr>
        <p:spPr>
          <a:xfrm>
            <a:off x="5390104" y="4249933"/>
            <a:ext cx="441563" cy="312958"/>
          </a:xfrm>
          <a:custGeom>
            <a:rect b="b" l="l" r="r" t="t"/>
            <a:pathLst>
              <a:path extrusionOk="0" h="468851" w="661518">
                <a:moveTo>
                  <a:pt x="0" y="0"/>
                </a:moveTo>
                <a:lnTo>
                  <a:pt x="661518" y="0"/>
                </a:lnTo>
                <a:lnTo>
                  <a:pt x="661518" y="468850"/>
                </a:lnTo>
                <a:lnTo>
                  <a:pt x="0" y="4688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8" name="Google Shape;68;g3f6edb484d6_2_29"/>
          <p:cNvSpPr/>
          <p:nvPr/>
        </p:nvSpPr>
        <p:spPr>
          <a:xfrm>
            <a:off x="7945980" y="3429000"/>
            <a:ext cx="389010" cy="390474"/>
          </a:xfrm>
          <a:custGeom>
            <a:rect b="b" l="l" r="r" t="t"/>
            <a:pathLst>
              <a:path extrusionOk="0" h="584980" w="582786">
                <a:moveTo>
                  <a:pt x="0" y="0"/>
                </a:moveTo>
                <a:lnTo>
                  <a:pt x="582786" y="0"/>
                </a:lnTo>
                <a:lnTo>
                  <a:pt x="582786" y="584980"/>
                </a:lnTo>
                <a:lnTo>
                  <a:pt x="0" y="5849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9" name="Google Shape;69;g3f6edb484d6_2_29"/>
          <p:cNvSpPr/>
          <p:nvPr/>
        </p:nvSpPr>
        <p:spPr>
          <a:xfrm>
            <a:off x="6979249" y="1205478"/>
            <a:ext cx="384583" cy="360547"/>
          </a:xfrm>
          <a:custGeom>
            <a:rect b="b" l="l" r="r" t="t"/>
            <a:pathLst>
              <a:path extrusionOk="0" h="540146" w="576155">
                <a:moveTo>
                  <a:pt x="0" y="0"/>
                </a:moveTo>
                <a:lnTo>
                  <a:pt x="576156" y="0"/>
                </a:lnTo>
                <a:lnTo>
                  <a:pt x="576156" y="540146"/>
                </a:lnTo>
                <a:lnTo>
                  <a:pt x="0" y="5401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0" name="Google Shape;70;g3f6edb484d6_2_29"/>
          <p:cNvSpPr/>
          <p:nvPr/>
        </p:nvSpPr>
        <p:spPr>
          <a:xfrm>
            <a:off x="5390104" y="1200584"/>
            <a:ext cx="336668" cy="365448"/>
          </a:xfrm>
          <a:custGeom>
            <a:rect b="b" l="l" r="r" t="t"/>
            <a:pathLst>
              <a:path extrusionOk="0" h="547487" w="504372">
                <a:moveTo>
                  <a:pt x="0" y="0"/>
                </a:moveTo>
                <a:lnTo>
                  <a:pt x="504372" y="0"/>
                </a:lnTo>
                <a:lnTo>
                  <a:pt x="504372" y="547487"/>
                </a:lnTo>
                <a:lnTo>
                  <a:pt x="0" y="5474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1" name="Google Shape;71;g3f6edb484d6_2_29"/>
          <p:cNvSpPr/>
          <p:nvPr/>
        </p:nvSpPr>
        <p:spPr>
          <a:xfrm>
            <a:off x="2618119" y="206213"/>
            <a:ext cx="6744201" cy="6019199"/>
          </a:xfrm>
          <a:custGeom>
            <a:rect b="b" l="l" r="r" t="t"/>
            <a:pathLst>
              <a:path extrusionOk="0" h="9017527" w="10103672">
                <a:moveTo>
                  <a:pt x="0" y="0"/>
                </a:moveTo>
                <a:lnTo>
                  <a:pt x="10103671" y="0"/>
                </a:lnTo>
                <a:lnTo>
                  <a:pt x="10103671" y="9017526"/>
                </a:lnTo>
                <a:lnTo>
                  <a:pt x="0" y="90175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2" name="Google Shape;72;g3f6edb484d6_2_29"/>
          <p:cNvSpPr txBox="1"/>
          <p:nvPr/>
        </p:nvSpPr>
        <p:spPr>
          <a:xfrm>
            <a:off x="5684830" y="3030575"/>
            <a:ext cx="13305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</a:pPr>
            <a:r>
              <a:rPr b="1" i="0" lang="en-US" sz="5300" u="none" cap="none" strike="noStrike">
                <a:solidFill>
                  <a:srgbClr val="FFFFFF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AI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g3f6edb484d6_2_29"/>
          <p:cNvSpPr txBox="1"/>
          <p:nvPr/>
        </p:nvSpPr>
        <p:spPr>
          <a:xfrm>
            <a:off x="685800" y="730250"/>
            <a:ext cx="23523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49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838E8"/>
                </a:solidFill>
                <a:latin typeface="Manrope"/>
                <a:ea typeface="Manrope"/>
                <a:cs typeface="Manrope"/>
                <a:sym typeface="Manrope"/>
              </a:rPr>
              <a:t>DATI | GESTÃO COMPLETA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F0F2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f6edb484d6_2_48"/>
          <p:cNvSpPr/>
          <p:nvPr/>
        </p:nvSpPr>
        <p:spPr>
          <a:xfrm>
            <a:off x="10712663" y="685800"/>
            <a:ext cx="794028" cy="328728"/>
          </a:xfrm>
          <a:custGeom>
            <a:rect b="b" l="l" r="r" t="t"/>
            <a:pathLst>
              <a:path extrusionOk="0" h="492476" w="1189555">
                <a:moveTo>
                  <a:pt x="0" y="0"/>
                </a:moveTo>
                <a:lnTo>
                  <a:pt x="1189556" y="0"/>
                </a:lnTo>
                <a:lnTo>
                  <a:pt x="1189556" y="492476"/>
                </a:lnTo>
                <a:lnTo>
                  <a:pt x="0" y="4924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9" name="Google Shape;79;g3f6edb484d6_2_48"/>
          <p:cNvSpPr txBox="1"/>
          <p:nvPr/>
        </p:nvSpPr>
        <p:spPr>
          <a:xfrm>
            <a:off x="746283" y="708217"/>
            <a:ext cx="5157300" cy="10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en-US" sz="3700" u="none" cap="none" strike="noStrike">
                <a:solidFill>
                  <a:srgbClr val="1A0F3D"/>
                </a:solidFill>
                <a:latin typeface="Manrope"/>
                <a:ea typeface="Manrope"/>
                <a:cs typeface="Manrope"/>
                <a:sym typeface="Manrope"/>
              </a:rPr>
              <a:t>A Força de um time altamente qualificado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" name="Google Shape;80;g3f6edb484d6_2_48"/>
          <p:cNvGrpSpPr/>
          <p:nvPr/>
        </p:nvGrpSpPr>
        <p:grpSpPr>
          <a:xfrm>
            <a:off x="515153" y="2825095"/>
            <a:ext cx="2380092" cy="2524443"/>
            <a:chOff x="0" y="0"/>
            <a:chExt cx="4760184" cy="5048886"/>
          </a:xfrm>
        </p:grpSpPr>
        <p:grpSp>
          <p:nvGrpSpPr>
            <p:cNvPr id="81" name="Google Shape;81;g3f6edb484d6_2_48"/>
            <p:cNvGrpSpPr/>
            <p:nvPr/>
          </p:nvGrpSpPr>
          <p:grpSpPr>
            <a:xfrm>
              <a:off x="0" y="0"/>
              <a:ext cx="4760184" cy="5048886"/>
              <a:chOff x="0" y="0"/>
              <a:chExt cx="831633" cy="882071"/>
            </a:xfrm>
          </p:grpSpPr>
          <p:sp>
            <p:nvSpPr>
              <p:cNvPr id="82" name="Google Shape;82;g3f6edb484d6_2_48"/>
              <p:cNvSpPr/>
              <p:nvPr/>
            </p:nvSpPr>
            <p:spPr>
              <a:xfrm>
                <a:off x="0" y="0"/>
                <a:ext cx="831633" cy="882071"/>
              </a:xfrm>
              <a:custGeom>
                <a:rect b="b" l="l" r="r" t="t"/>
                <a:pathLst>
                  <a:path extrusionOk="0" h="882071" w="831633">
                    <a:moveTo>
                      <a:pt x="88910" y="0"/>
                    </a:moveTo>
                    <a:lnTo>
                      <a:pt x="742723" y="0"/>
                    </a:lnTo>
                    <a:cubicBezTo>
                      <a:pt x="766304" y="0"/>
                      <a:pt x="788918" y="9367"/>
                      <a:pt x="805592" y="26041"/>
                    </a:cubicBezTo>
                    <a:cubicBezTo>
                      <a:pt x="822266" y="42715"/>
                      <a:pt x="831633" y="65329"/>
                      <a:pt x="831633" y="88910"/>
                    </a:cubicBezTo>
                    <a:lnTo>
                      <a:pt x="831633" y="793162"/>
                    </a:lnTo>
                    <a:cubicBezTo>
                      <a:pt x="831633" y="842265"/>
                      <a:pt x="791827" y="882071"/>
                      <a:pt x="742723" y="882071"/>
                    </a:cubicBezTo>
                    <a:lnTo>
                      <a:pt x="88910" y="882071"/>
                    </a:lnTo>
                    <a:cubicBezTo>
                      <a:pt x="39806" y="882071"/>
                      <a:pt x="0" y="842265"/>
                      <a:pt x="0" y="793162"/>
                    </a:cubicBezTo>
                    <a:lnTo>
                      <a:pt x="0" y="88910"/>
                    </a:lnTo>
                    <a:cubicBezTo>
                      <a:pt x="0" y="39806"/>
                      <a:pt x="39806" y="0"/>
                      <a:pt x="8891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0950" lIns="60950" spcFirstLastPara="1" rIns="60950" wrap="square" tIns="609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t/>
                </a:r>
                <a:endParaRPr b="0" i="0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83;g3f6edb484d6_2_48"/>
              <p:cNvSpPr txBox="1"/>
              <p:nvPr/>
            </p:nvSpPr>
            <p:spPr>
              <a:xfrm>
                <a:off x="0" y="38100"/>
                <a:ext cx="831600" cy="84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3875" lIns="33875" spcFirstLastPara="1" rIns="33875" wrap="square" tIns="33875">
                <a:noAutofit/>
              </a:bodyPr>
              <a:lstStyle/>
              <a:p>
                <a:pPr indent="0" lvl="0" marL="0" marR="0" rtl="0" algn="ctr">
                  <a:lnSpc>
                    <a:spcPct val="9994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t/>
                </a:r>
                <a:endParaRPr b="0" i="0" sz="1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84" name="Google Shape;84;g3f6edb484d6_2_48"/>
            <p:cNvCxnSpPr/>
            <p:nvPr/>
          </p:nvCxnSpPr>
          <p:spPr>
            <a:xfrm>
              <a:off x="596453" y="2260442"/>
              <a:ext cx="3567300" cy="0"/>
            </a:xfrm>
            <a:prstGeom prst="straightConnector1">
              <a:avLst/>
            </a:prstGeom>
            <a:noFill/>
            <a:ln cap="flat" cmpd="sng" w="9525">
              <a:solidFill>
                <a:srgbClr val="C0C0C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5" name="Google Shape;85;g3f6edb484d6_2_48"/>
            <p:cNvSpPr txBox="1"/>
            <p:nvPr/>
          </p:nvSpPr>
          <p:spPr>
            <a:xfrm>
              <a:off x="459963" y="645115"/>
              <a:ext cx="3840300" cy="125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9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n-US" sz="1700" u="none" cap="none" strike="noStrike">
                  <a:solidFill>
                    <a:srgbClr val="000000"/>
                  </a:solidFill>
                  <a:latin typeface="Manrope"/>
                  <a:ea typeface="Manrope"/>
                  <a:cs typeface="Manrope"/>
                  <a:sym typeface="Manrope"/>
                </a:rPr>
                <a:t>Mais de 180 certificações AWS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g3f6edb484d6_2_48"/>
            <p:cNvSpPr txBox="1"/>
            <p:nvPr/>
          </p:nvSpPr>
          <p:spPr>
            <a:xfrm>
              <a:off x="435494" y="2618784"/>
              <a:ext cx="3840300" cy="129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636363"/>
                  </a:solidFill>
                  <a:latin typeface="Manrope Light"/>
                  <a:ea typeface="Manrope Light"/>
                  <a:cs typeface="Manrope Light"/>
                  <a:sym typeface="Manrope Light"/>
                </a:rPr>
                <a:t>Consolidando nossa autoridade técnica e excelência operacional</a:t>
              </a:r>
              <a:endParaRPr b="0" i="0" sz="1000" u="none" cap="none" strike="noStrike">
                <a:solidFill>
                  <a:srgbClr val="000000"/>
                </a:solidFill>
                <a:latin typeface="Manrope Light"/>
                <a:ea typeface="Manrope Light"/>
                <a:cs typeface="Manrope Light"/>
                <a:sym typeface="Manrope Light"/>
              </a:endParaRPr>
            </a:p>
          </p:txBody>
        </p:sp>
      </p:grpSp>
      <p:grpSp>
        <p:nvGrpSpPr>
          <p:cNvPr id="87" name="Google Shape;87;g3f6edb484d6_2_48"/>
          <p:cNvGrpSpPr/>
          <p:nvPr/>
        </p:nvGrpSpPr>
        <p:grpSpPr>
          <a:xfrm>
            <a:off x="3269882" y="2801953"/>
            <a:ext cx="2556821" cy="2547540"/>
            <a:chOff x="0" y="0"/>
            <a:chExt cx="893400" cy="890157"/>
          </a:xfrm>
        </p:grpSpPr>
        <p:sp>
          <p:nvSpPr>
            <p:cNvPr id="88" name="Google Shape;88;g3f6edb484d6_2_48"/>
            <p:cNvSpPr/>
            <p:nvPr/>
          </p:nvSpPr>
          <p:spPr>
            <a:xfrm>
              <a:off x="0" y="0"/>
              <a:ext cx="893280" cy="890157"/>
            </a:xfrm>
            <a:custGeom>
              <a:rect b="b" l="l" r="r" t="t"/>
              <a:pathLst>
                <a:path extrusionOk="0" h="890157" w="893280">
                  <a:moveTo>
                    <a:pt x="82774" y="0"/>
                  </a:moveTo>
                  <a:lnTo>
                    <a:pt x="810506" y="0"/>
                  </a:lnTo>
                  <a:cubicBezTo>
                    <a:pt x="832459" y="0"/>
                    <a:pt x="853513" y="8721"/>
                    <a:pt x="869036" y="24244"/>
                  </a:cubicBezTo>
                  <a:cubicBezTo>
                    <a:pt x="884559" y="39767"/>
                    <a:pt x="893280" y="60821"/>
                    <a:pt x="893280" y="82774"/>
                  </a:cubicBezTo>
                  <a:lnTo>
                    <a:pt x="893280" y="807383"/>
                  </a:lnTo>
                  <a:cubicBezTo>
                    <a:pt x="893280" y="829336"/>
                    <a:pt x="884559" y="850390"/>
                    <a:pt x="869036" y="865914"/>
                  </a:cubicBezTo>
                  <a:cubicBezTo>
                    <a:pt x="853513" y="881437"/>
                    <a:pt x="832459" y="890157"/>
                    <a:pt x="810506" y="890157"/>
                  </a:cubicBezTo>
                  <a:lnTo>
                    <a:pt x="82774" y="890157"/>
                  </a:lnTo>
                  <a:cubicBezTo>
                    <a:pt x="60821" y="890157"/>
                    <a:pt x="39767" y="881437"/>
                    <a:pt x="24244" y="865914"/>
                  </a:cubicBezTo>
                  <a:cubicBezTo>
                    <a:pt x="8721" y="850390"/>
                    <a:pt x="0" y="829336"/>
                    <a:pt x="0" y="807383"/>
                  </a:cubicBezTo>
                  <a:lnTo>
                    <a:pt x="0" y="82774"/>
                  </a:lnTo>
                  <a:cubicBezTo>
                    <a:pt x="0" y="60821"/>
                    <a:pt x="8721" y="39767"/>
                    <a:pt x="24244" y="24244"/>
                  </a:cubicBezTo>
                  <a:cubicBezTo>
                    <a:pt x="39767" y="8721"/>
                    <a:pt x="60821" y="0"/>
                    <a:pt x="827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g3f6edb484d6_2_48"/>
            <p:cNvSpPr txBox="1"/>
            <p:nvPr/>
          </p:nvSpPr>
          <p:spPr>
            <a:xfrm>
              <a:off x="0" y="38100"/>
              <a:ext cx="893400" cy="85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9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90" name="Google Shape;90;g3f6edb484d6_2_48"/>
          <p:cNvCxnSpPr/>
          <p:nvPr/>
        </p:nvCxnSpPr>
        <p:spPr>
          <a:xfrm>
            <a:off x="3590215" y="3911049"/>
            <a:ext cx="1915800" cy="0"/>
          </a:xfrm>
          <a:prstGeom prst="straightConnector1">
            <a:avLst/>
          </a:prstGeom>
          <a:noFill/>
          <a:ln cap="flat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" name="Google Shape;91;g3f6edb484d6_2_48"/>
          <p:cNvSpPr txBox="1"/>
          <p:nvPr/>
        </p:nvSpPr>
        <p:spPr>
          <a:xfrm>
            <a:off x="3430049" y="3169878"/>
            <a:ext cx="22362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1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50+ especialistas certificados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g3f6edb484d6_2_48"/>
          <p:cNvSpPr txBox="1"/>
          <p:nvPr/>
        </p:nvSpPr>
        <p:spPr>
          <a:xfrm>
            <a:off x="3679474" y="4075742"/>
            <a:ext cx="173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500" u="none" cap="none" strike="noStrike">
                <a:solidFill>
                  <a:srgbClr val="636363"/>
                </a:solidFill>
                <a:latin typeface="Manrope Light"/>
                <a:ea typeface="Manrope Light"/>
                <a:cs typeface="Manrope Light"/>
                <a:sym typeface="Manrope Light"/>
              </a:rPr>
              <a:t>Cobrindo as 12 especialidades AWS</a:t>
            </a:r>
            <a:endParaRPr b="0" i="0" sz="1500" u="none" cap="none" strike="noStrike">
              <a:solidFill>
                <a:srgbClr val="000000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grpSp>
        <p:nvGrpSpPr>
          <p:cNvPr id="93" name="Google Shape;93;g3f6edb484d6_2_48"/>
          <p:cNvGrpSpPr/>
          <p:nvPr/>
        </p:nvGrpSpPr>
        <p:grpSpPr>
          <a:xfrm>
            <a:off x="6198001" y="1775972"/>
            <a:ext cx="2556821" cy="4702717"/>
            <a:chOff x="0" y="0"/>
            <a:chExt cx="893400" cy="1643215"/>
          </a:xfrm>
        </p:grpSpPr>
        <p:sp>
          <p:nvSpPr>
            <p:cNvPr id="94" name="Google Shape;94;g3f6edb484d6_2_48"/>
            <p:cNvSpPr/>
            <p:nvPr/>
          </p:nvSpPr>
          <p:spPr>
            <a:xfrm>
              <a:off x="0" y="0"/>
              <a:ext cx="893280" cy="1643215"/>
            </a:xfrm>
            <a:custGeom>
              <a:rect b="b" l="l" r="r" t="t"/>
              <a:pathLst>
                <a:path extrusionOk="0" h="1643215" w="893280">
                  <a:moveTo>
                    <a:pt x="82774" y="0"/>
                  </a:moveTo>
                  <a:lnTo>
                    <a:pt x="810506" y="0"/>
                  </a:lnTo>
                  <a:cubicBezTo>
                    <a:pt x="832459" y="0"/>
                    <a:pt x="853513" y="8721"/>
                    <a:pt x="869036" y="24244"/>
                  </a:cubicBezTo>
                  <a:cubicBezTo>
                    <a:pt x="884559" y="39767"/>
                    <a:pt x="893280" y="60821"/>
                    <a:pt x="893280" y="82774"/>
                  </a:cubicBezTo>
                  <a:lnTo>
                    <a:pt x="893280" y="1560441"/>
                  </a:lnTo>
                  <a:cubicBezTo>
                    <a:pt x="893280" y="1582394"/>
                    <a:pt x="884559" y="1603448"/>
                    <a:pt x="869036" y="1618971"/>
                  </a:cubicBezTo>
                  <a:cubicBezTo>
                    <a:pt x="853513" y="1634494"/>
                    <a:pt x="832459" y="1643215"/>
                    <a:pt x="810506" y="1643215"/>
                  </a:cubicBezTo>
                  <a:lnTo>
                    <a:pt x="82774" y="1643215"/>
                  </a:lnTo>
                  <a:cubicBezTo>
                    <a:pt x="60821" y="1643215"/>
                    <a:pt x="39767" y="1634494"/>
                    <a:pt x="24244" y="1618971"/>
                  </a:cubicBezTo>
                  <a:cubicBezTo>
                    <a:pt x="8721" y="1603448"/>
                    <a:pt x="0" y="1582394"/>
                    <a:pt x="0" y="1560441"/>
                  </a:cubicBezTo>
                  <a:lnTo>
                    <a:pt x="0" y="82774"/>
                  </a:lnTo>
                  <a:cubicBezTo>
                    <a:pt x="0" y="60821"/>
                    <a:pt x="8721" y="39767"/>
                    <a:pt x="24244" y="24244"/>
                  </a:cubicBezTo>
                  <a:cubicBezTo>
                    <a:pt x="39767" y="8721"/>
                    <a:pt x="60821" y="0"/>
                    <a:pt x="82774" y="0"/>
                  </a:cubicBezTo>
                  <a:close/>
                </a:path>
              </a:pathLst>
            </a:custGeom>
            <a:solidFill>
              <a:srgbClr val="6838E8"/>
            </a:solidFill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g3f6edb484d6_2_48"/>
            <p:cNvSpPr txBox="1"/>
            <p:nvPr/>
          </p:nvSpPr>
          <p:spPr>
            <a:xfrm>
              <a:off x="0" y="38100"/>
              <a:ext cx="893400" cy="16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9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" name="Google Shape;96;g3f6edb484d6_2_48"/>
          <p:cNvGrpSpPr/>
          <p:nvPr/>
        </p:nvGrpSpPr>
        <p:grpSpPr>
          <a:xfrm>
            <a:off x="6443529" y="2093963"/>
            <a:ext cx="2132338" cy="4168431"/>
            <a:chOff x="0" y="-19050"/>
            <a:chExt cx="4264675" cy="8336862"/>
          </a:xfrm>
        </p:grpSpPr>
        <p:sp>
          <p:nvSpPr>
            <p:cNvPr id="97" name="Google Shape;97;g3f6edb484d6_2_48"/>
            <p:cNvSpPr/>
            <p:nvPr/>
          </p:nvSpPr>
          <p:spPr>
            <a:xfrm>
              <a:off x="0" y="0"/>
              <a:ext cx="428302" cy="428302"/>
            </a:xfrm>
            <a:custGeom>
              <a:rect b="b" l="l" r="r" t="t"/>
              <a:pathLst>
                <a:path extrusionOk="0" h="428302" w="428302">
                  <a:moveTo>
                    <a:pt x="0" y="0"/>
                  </a:moveTo>
                  <a:lnTo>
                    <a:pt x="428302" y="0"/>
                  </a:lnTo>
                  <a:lnTo>
                    <a:pt x="428302" y="428302"/>
                  </a:lnTo>
                  <a:lnTo>
                    <a:pt x="0" y="42830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98" name="Google Shape;98;g3f6edb484d6_2_48"/>
            <p:cNvSpPr/>
            <p:nvPr/>
          </p:nvSpPr>
          <p:spPr>
            <a:xfrm>
              <a:off x="0" y="1316479"/>
              <a:ext cx="428302" cy="428302"/>
            </a:xfrm>
            <a:custGeom>
              <a:rect b="b" l="l" r="r" t="t"/>
              <a:pathLst>
                <a:path extrusionOk="0" h="428302" w="428302">
                  <a:moveTo>
                    <a:pt x="0" y="0"/>
                  </a:moveTo>
                  <a:lnTo>
                    <a:pt x="428302" y="0"/>
                  </a:lnTo>
                  <a:lnTo>
                    <a:pt x="428302" y="428302"/>
                  </a:lnTo>
                  <a:lnTo>
                    <a:pt x="0" y="42830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99" name="Google Shape;99;g3f6edb484d6_2_48"/>
            <p:cNvSpPr/>
            <p:nvPr/>
          </p:nvSpPr>
          <p:spPr>
            <a:xfrm>
              <a:off x="0" y="3317658"/>
              <a:ext cx="428302" cy="428302"/>
            </a:xfrm>
            <a:custGeom>
              <a:rect b="b" l="l" r="r" t="t"/>
              <a:pathLst>
                <a:path extrusionOk="0" h="428302" w="428302">
                  <a:moveTo>
                    <a:pt x="0" y="0"/>
                  </a:moveTo>
                  <a:lnTo>
                    <a:pt x="428302" y="0"/>
                  </a:lnTo>
                  <a:lnTo>
                    <a:pt x="428302" y="428302"/>
                  </a:lnTo>
                  <a:lnTo>
                    <a:pt x="0" y="42830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00" name="Google Shape;100;g3f6edb484d6_2_48"/>
            <p:cNvSpPr/>
            <p:nvPr/>
          </p:nvSpPr>
          <p:spPr>
            <a:xfrm>
              <a:off x="0" y="4352496"/>
              <a:ext cx="428302" cy="428302"/>
            </a:xfrm>
            <a:custGeom>
              <a:rect b="b" l="l" r="r" t="t"/>
              <a:pathLst>
                <a:path extrusionOk="0" h="428302" w="428302">
                  <a:moveTo>
                    <a:pt x="0" y="0"/>
                  </a:moveTo>
                  <a:lnTo>
                    <a:pt x="428302" y="0"/>
                  </a:lnTo>
                  <a:lnTo>
                    <a:pt x="428302" y="428303"/>
                  </a:lnTo>
                  <a:lnTo>
                    <a:pt x="0" y="42830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01" name="Google Shape;101;g3f6edb484d6_2_48"/>
            <p:cNvSpPr/>
            <p:nvPr/>
          </p:nvSpPr>
          <p:spPr>
            <a:xfrm>
              <a:off x="0" y="5305410"/>
              <a:ext cx="428302" cy="428302"/>
            </a:xfrm>
            <a:custGeom>
              <a:rect b="b" l="l" r="r" t="t"/>
              <a:pathLst>
                <a:path extrusionOk="0" h="428302" w="428302">
                  <a:moveTo>
                    <a:pt x="0" y="0"/>
                  </a:moveTo>
                  <a:lnTo>
                    <a:pt x="428302" y="0"/>
                  </a:lnTo>
                  <a:lnTo>
                    <a:pt x="428302" y="428303"/>
                  </a:lnTo>
                  <a:lnTo>
                    <a:pt x="0" y="42830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02" name="Google Shape;102;g3f6edb484d6_2_48"/>
            <p:cNvSpPr/>
            <p:nvPr/>
          </p:nvSpPr>
          <p:spPr>
            <a:xfrm>
              <a:off x="0" y="6616662"/>
              <a:ext cx="428302" cy="428302"/>
            </a:xfrm>
            <a:custGeom>
              <a:rect b="b" l="l" r="r" t="t"/>
              <a:pathLst>
                <a:path extrusionOk="0" h="428302" w="428302">
                  <a:moveTo>
                    <a:pt x="0" y="0"/>
                  </a:moveTo>
                  <a:lnTo>
                    <a:pt x="428302" y="0"/>
                  </a:lnTo>
                  <a:lnTo>
                    <a:pt x="428302" y="428302"/>
                  </a:lnTo>
                  <a:lnTo>
                    <a:pt x="0" y="42830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03" name="Google Shape;103;g3f6edb484d6_2_48"/>
            <p:cNvSpPr txBox="1"/>
            <p:nvPr/>
          </p:nvSpPr>
          <p:spPr>
            <a:xfrm>
              <a:off x="685975" y="-19050"/>
              <a:ext cx="3578700" cy="125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599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Manrope"/>
                  <a:ea typeface="Manrope"/>
                  <a:cs typeface="Manrope"/>
                  <a:sym typeface="Manrope"/>
                </a:rPr>
                <a:t>Arquiteto de Soluções</a:t>
              </a:r>
              <a:r>
                <a:rPr b="1" i="0" lang="en-US" sz="1100" u="none" cap="none" strike="noStrike">
                  <a:solidFill>
                    <a:srgbClr val="FFFFFF"/>
                  </a:solidFill>
                  <a:latin typeface="Manrope Medium"/>
                  <a:ea typeface="Manrope Medium"/>
                  <a:cs typeface="Manrope Medium"/>
                  <a:sym typeface="Manrope Medium"/>
                </a:rPr>
                <a:t> Criando infra estruturas otimizadas e seguras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g3f6edb484d6_2_48"/>
            <p:cNvSpPr txBox="1"/>
            <p:nvPr/>
          </p:nvSpPr>
          <p:spPr>
            <a:xfrm>
              <a:off x="685975" y="1297429"/>
              <a:ext cx="3416400" cy="172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599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Manrope"/>
                  <a:ea typeface="Manrope"/>
                  <a:cs typeface="Manrope"/>
                  <a:sym typeface="Manrope"/>
                </a:rPr>
                <a:t>Machine Learning  </a:t>
              </a:r>
              <a:r>
                <a:rPr b="0" i="0" lang="en-US" sz="1100" u="none" cap="none" strike="noStrike">
                  <a:solidFill>
                    <a:srgbClr val="FFFFFF"/>
                  </a:solidFill>
                  <a:latin typeface="Manrope"/>
                  <a:ea typeface="Manrope"/>
                  <a:cs typeface="Manrope"/>
                  <a:sym typeface="Manrope"/>
                </a:rPr>
                <a:t>Aplicando IA para decisões mais inteligentes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g3f6edb484d6_2_48"/>
            <p:cNvSpPr txBox="1"/>
            <p:nvPr/>
          </p:nvSpPr>
          <p:spPr>
            <a:xfrm>
              <a:off x="685975" y="3298608"/>
              <a:ext cx="3416400" cy="79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599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Manrope"/>
                  <a:ea typeface="Manrope"/>
                  <a:cs typeface="Manrope"/>
                  <a:sym typeface="Manrope"/>
                </a:rPr>
                <a:t>Segurança</a:t>
              </a:r>
              <a:r>
                <a:rPr b="0" i="0" lang="en-US" sz="1100" u="none" cap="none" strike="noStrike">
                  <a:solidFill>
                    <a:srgbClr val="FFFFFF"/>
                  </a:solidFill>
                  <a:latin typeface="Manrope"/>
                  <a:ea typeface="Manrope"/>
                  <a:cs typeface="Manrope"/>
                  <a:sym typeface="Manrope"/>
                </a:rPr>
                <a:t> – Garantindo proteção de ponta a ponta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g3f6edb484d6_2_48"/>
            <p:cNvSpPr txBox="1"/>
            <p:nvPr/>
          </p:nvSpPr>
          <p:spPr>
            <a:xfrm>
              <a:off x="685975" y="4333446"/>
              <a:ext cx="3416400" cy="79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599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Manrope"/>
                  <a:ea typeface="Manrope"/>
                  <a:cs typeface="Manrope"/>
                  <a:sym typeface="Manrope"/>
                </a:rPr>
                <a:t>DevOps</a:t>
              </a:r>
              <a:r>
                <a:rPr b="0" i="0" lang="en-US" sz="1100" u="none" cap="none" strike="noStrike">
                  <a:solidFill>
                    <a:srgbClr val="FFFFFF"/>
                  </a:solidFill>
                  <a:latin typeface="Manrope"/>
                  <a:ea typeface="Manrope"/>
                  <a:cs typeface="Manrope"/>
                  <a:sym typeface="Manrope"/>
                </a:rPr>
                <a:t> – Automação e eficiência contínua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g3f6edb484d6_2_48"/>
            <p:cNvSpPr txBox="1"/>
            <p:nvPr/>
          </p:nvSpPr>
          <p:spPr>
            <a:xfrm>
              <a:off x="685975" y="5286360"/>
              <a:ext cx="3416400" cy="125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599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Manrope"/>
                  <a:ea typeface="Manrope"/>
                  <a:cs typeface="Manrope"/>
                  <a:sym typeface="Manrope"/>
                </a:rPr>
                <a:t>Big Data  -</a:t>
              </a:r>
              <a:r>
                <a:rPr b="0" i="0" lang="en-US" sz="1100" u="none" cap="none" strike="noStrike">
                  <a:solidFill>
                    <a:srgbClr val="FFFFFF"/>
                  </a:solidFill>
                  <a:latin typeface="Manrope"/>
                  <a:ea typeface="Manrope"/>
                  <a:cs typeface="Manrope"/>
                  <a:sym typeface="Manrope"/>
                </a:rPr>
                <a:t> Transformação de dados em vantagem estratégica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g3f6edb484d6_2_48"/>
            <p:cNvSpPr txBox="1"/>
            <p:nvPr/>
          </p:nvSpPr>
          <p:spPr>
            <a:xfrm>
              <a:off x="685975" y="6597612"/>
              <a:ext cx="3416400" cy="172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599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100" u="none" cap="none" strike="noStrike">
                  <a:solidFill>
                    <a:srgbClr val="FFFFFF"/>
                  </a:solidFill>
                  <a:latin typeface="Manrope"/>
                  <a:ea typeface="Manrope"/>
                  <a:cs typeface="Manrope"/>
                  <a:sym typeface="Manrope"/>
                </a:rPr>
                <a:t>Inteligência Artificial </a:t>
              </a:r>
              <a:r>
                <a:rPr b="0" i="0" lang="en-US" sz="1100" u="none" cap="none" strike="noStrike">
                  <a:solidFill>
                    <a:srgbClr val="FFFFFF"/>
                  </a:solidFill>
                  <a:latin typeface="Manrope"/>
                  <a:ea typeface="Manrope"/>
                  <a:cs typeface="Manrope"/>
                  <a:sym typeface="Manrope"/>
                </a:rPr>
                <a:t> Automação inteligente e decisões estratégicas orientadas por dados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9" name="Google Shape;109;g3f6edb484d6_2_48"/>
          <p:cNvSpPr/>
          <p:nvPr/>
        </p:nvSpPr>
        <p:spPr>
          <a:xfrm>
            <a:off x="5713213" y="4090310"/>
            <a:ext cx="604070" cy="170650"/>
          </a:xfrm>
          <a:custGeom>
            <a:rect b="b" l="l" r="r" t="t"/>
            <a:pathLst>
              <a:path extrusionOk="0" h="255655" w="904974">
                <a:moveTo>
                  <a:pt x="0" y="0"/>
                </a:moveTo>
                <a:lnTo>
                  <a:pt x="904974" y="0"/>
                </a:lnTo>
                <a:lnTo>
                  <a:pt x="904974" y="255655"/>
                </a:lnTo>
                <a:lnTo>
                  <a:pt x="0" y="2556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0" name="Google Shape;110;g3f6edb484d6_2_48"/>
          <p:cNvGrpSpPr/>
          <p:nvPr/>
        </p:nvGrpSpPr>
        <p:grpSpPr>
          <a:xfrm>
            <a:off x="9126120" y="2798928"/>
            <a:ext cx="2380092" cy="2550856"/>
            <a:chOff x="0" y="0"/>
            <a:chExt cx="4760184" cy="5101712"/>
          </a:xfrm>
        </p:grpSpPr>
        <p:grpSp>
          <p:nvGrpSpPr>
            <p:cNvPr id="111" name="Google Shape;111;g3f6edb484d6_2_48"/>
            <p:cNvGrpSpPr/>
            <p:nvPr/>
          </p:nvGrpSpPr>
          <p:grpSpPr>
            <a:xfrm>
              <a:off x="0" y="0"/>
              <a:ext cx="4760184" cy="5101712"/>
              <a:chOff x="0" y="0"/>
              <a:chExt cx="831633" cy="891300"/>
            </a:xfrm>
          </p:grpSpPr>
          <p:sp>
            <p:nvSpPr>
              <p:cNvPr id="112" name="Google Shape;112;g3f6edb484d6_2_48"/>
              <p:cNvSpPr/>
              <p:nvPr/>
            </p:nvSpPr>
            <p:spPr>
              <a:xfrm>
                <a:off x="0" y="0"/>
                <a:ext cx="831633" cy="891215"/>
              </a:xfrm>
              <a:custGeom>
                <a:rect b="b" l="l" r="r" t="t"/>
                <a:pathLst>
                  <a:path extrusionOk="0" h="891215" w="831633">
                    <a:moveTo>
                      <a:pt x="88910" y="0"/>
                    </a:moveTo>
                    <a:lnTo>
                      <a:pt x="742723" y="0"/>
                    </a:lnTo>
                    <a:cubicBezTo>
                      <a:pt x="766304" y="0"/>
                      <a:pt x="788918" y="9367"/>
                      <a:pt x="805592" y="26041"/>
                    </a:cubicBezTo>
                    <a:cubicBezTo>
                      <a:pt x="822266" y="42715"/>
                      <a:pt x="831633" y="65329"/>
                      <a:pt x="831633" y="88910"/>
                    </a:cubicBezTo>
                    <a:lnTo>
                      <a:pt x="831633" y="802305"/>
                    </a:lnTo>
                    <a:cubicBezTo>
                      <a:pt x="831633" y="851408"/>
                      <a:pt x="791827" y="891215"/>
                      <a:pt x="742723" y="891215"/>
                    </a:cubicBezTo>
                    <a:lnTo>
                      <a:pt x="88910" y="891215"/>
                    </a:lnTo>
                    <a:cubicBezTo>
                      <a:pt x="65329" y="891215"/>
                      <a:pt x="42715" y="881847"/>
                      <a:pt x="26041" y="865174"/>
                    </a:cubicBezTo>
                    <a:cubicBezTo>
                      <a:pt x="9367" y="848500"/>
                      <a:pt x="0" y="825885"/>
                      <a:pt x="0" y="802305"/>
                    </a:cubicBezTo>
                    <a:lnTo>
                      <a:pt x="0" y="88910"/>
                    </a:lnTo>
                    <a:cubicBezTo>
                      <a:pt x="0" y="39806"/>
                      <a:pt x="39806" y="0"/>
                      <a:pt x="8891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0950" lIns="60950" spcFirstLastPara="1" rIns="60950" wrap="square" tIns="609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t/>
                </a:r>
                <a:endParaRPr b="0" i="0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" name="Google Shape;113;g3f6edb484d6_2_48"/>
              <p:cNvSpPr txBox="1"/>
              <p:nvPr/>
            </p:nvSpPr>
            <p:spPr>
              <a:xfrm>
                <a:off x="0" y="38100"/>
                <a:ext cx="831600" cy="85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3875" lIns="33875" spcFirstLastPara="1" rIns="33875" wrap="square" tIns="33875">
                <a:noAutofit/>
              </a:bodyPr>
              <a:lstStyle/>
              <a:p>
                <a:pPr indent="0" lvl="0" marL="0" marR="0" rtl="0" algn="ctr">
                  <a:lnSpc>
                    <a:spcPct val="9994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t/>
                </a:r>
                <a:endParaRPr b="0" i="0" sz="1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14" name="Google Shape;114;g3f6edb484d6_2_48"/>
            <p:cNvCxnSpPr/>
            <p:nvPr/>
          </p:nvCxnSpPr>
          <p:spPr>
            <a:xfrm>
              <a:off x="287992" y="2171705"/>
              <a:ext cx="4147200" cy="0"/>
            </a:xfrm>
            <a:prstGeom prst="straightConnector1">
              <a:avLst/>
            </a:prstGeom>
            <a:noFill/>
            <a:ln cap="flat" cmpd="sng" w="9525">
              <a:solidFill>
                <a:srgbClr val="C0C0C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5" name="Google Shape;115;g3f6edb484d6_2_48"/>
            <p:cNvSpPr txBox="1"/>
            <p:nvPr/>
          </p:nvSpPr>
          <p:spPr>
            <a:xfrm>
              <a:off x="632502" y="663065"/>
              <a:ext cx="3495300" cy="125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9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n-US" sz="1700" u="none" cap="none" strike="noStrike">
                  <a:solidFill>
                    <a:srgbClr val="000000"/>
                  </a:solidFill>
                  <a:latin typeface="Manrope"/>
                  <a:ea typeface="Manrope"/>
                  <a:cs typeface="Manrope"/>
                  <a:sym typeface="Manrope"/>
                </a:rPr>
                <a:t>Capacitação contínua</a:t>
              </a:r>
              <a:endPara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g3f6edb484d6_2_48"/>
            <p:cNvSpPr txBox="1"/>
            <p:nvPr/>
          </p:nvSpPr>
          <p:spPr>
            <a:xfrm>
              <a:off x="162559" y="2471794"/>
              <a:ext cx="4435200" cy="138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-US" sz="1500" u="none" cap="none" strike="noStrike">
                  <a:solidFill>
                    <a:srgbClr val="636363"/>
                  </a:solidFill>
                  <a:latin typeface="Manrope Light"/>
                  <a:ea typeface="Manrope Light"/>
                  <a:cs typeface="Manrope Light"/>
                  <a:sym typeface="Manrope Light"/>
                </a:rPr>
                <a:t>Garantindo performance</a:t>
              </a:r>
              <a:br>
                <a:rPr b="0" i="0" lang="en-US" sz="1500" u="none" cap="none" strike="noStrike">
                  <a:solidFill>
                    <a:srgbClr val="636363"/>
                  </a:solidFill>
                  <a:latin typeface="Manrope Light"/>
                  <a:ea typeface="Manrope Light"/>
                  <a:cs typeface="Manrope Light"/>
                  <a:sym typeface="Manrope Light"/>
                </a:rPr>
              </a:br>
              <a:r>
                <a:rPr b="0" i="0" lang="en-US" sz="1500" u="none" cap="none" strike="noStrike">
                  <a:solidFill>
                    <a:srgbClr val="636363"/>
                  </a:solidFill>
                  <a:latin typeface="Manrope Light"/>
                  <a:ea typeface="Manrope Light"/>
                  <a:cs typeface="Manrope Light"/>
                  <a:sym typeface="Manrope Light"/>
                </a:rPr>
                <a:t>de alto nível e inovação constante</a:t>
              </a:r>
              <a:endParaRPr b="0" i="0" sz="1500" u="none" cap="none" strike="noStrike">
                <a:solidFill>
                  <a:srgbClr val="000000"/>
                </a:solidFill>
                <a:latin typeface="Manrope Light"/>
                <a:ea typeface="Manrope Light"/>
                <a:cs typeface="Manrope Light"/>
                <a:sym typeface="Manrope Light"/>
              </a:endParaRPr>
            </a:p>
          </p:txBody>
        </p:sp>
      </p:grpSp>
      <p:sp>
        <p:nvSpPr>
          <p:cNvPr id="117" name="Google Shape;117;g3f6edb484d6_2_48"/>
          <p:cNvSpPr txBox="1"/>
          <p:nvPr/>
        </p:nvSpPr>
        <p:spPr>
          <a:xfrm>
            <a:off x="746281" y="1725754"/>
            <a:ext cx="4670700" cy="6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3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A0F3D"/>
                </a:solidFill>
                <a:latin typeface="Manrope"/>
                <a:ea typeface="Manrope"/>
                <a:cs typeface="Manrope"/>
                <a:sym typeface="Manrope"/>
              </a:rPr>
              <a:t>Conhecimentos técnicos e experiência com a nuvem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3f6edb484d6_2_48"/>
          <p:cNvSpPr/>
          <p:nvPr/>
        </p:nvSpPr>
        <p:spPr>
          <a:xfrm>
            <a:off x="1226619" y="4960147"/>
            <a:ext cx="958342" cy="963158"/>
          </a:xfrm>
          <a:custGeom>
            <a:rect b="b" l="l" r="r" t="t"/>
            <a:pathLst>
              <a:path extrusionOk="0" h="1442933" w="1435718">
                <a:moveTo>
                  <a:pt x="0" y="0"/>
                </a:moveTo>
                <a:lnTo>
                  <a:pt x="1435719" y="0"/>
                </a:lnTo>
                <a:lnTo>
                  <a:pt x="1435719" y="1442933"/>
                </a:lnTo>
                <a:lnTo>
                  <a:pt x="0" y="14429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9" name="Google Shape;119;g3f6edb484d6_2_48"/>
          <p:cNvSpPr/>
          <p:nvPr/>
        </p:nvSpPr>
        <p:spPr>
          <a:xfrm>
            <a:off x="3648347" y="4640426"/>
            <a:ext cx="1801829" cy="495503"/>
          </a:xfrm>
          <a:custGeom>
            <a:rect b="b" l="l" r="r" t="t"/>
            <a:pathLst>
              <a:path extrusionOk="0" h="742327" w="2699370">
                <a:moveTo>
                  <a:pt x="0" y="0"/>
                </a:moveTo>
                <a:lnTo>
                  <a:pt x="2699370" y="0"/>
                </a:lnTo>
                <a:lnTo>
                  <a:pt x="2699370" y="742326"/>
                </a:lnTo>
                <a:lnTo>
                  <a:pt x="0" y="7423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0" name="Google Shape;120;g3f6edb484d6_2_48"/>
          <p:cNvSpPr/>
          <p:nvPr/>
        </p:nvSpPr>
        <p:spPr>
          <a:xfrm>
            <a:off x="9371732" y="5003847"/>
            <a:ext cx="919403" cy="919403"/>
          </a:xfrm>
          <a:custGeom>
            <a:rect b="b" l="l" r="r" t="t"/>
            <a:pathLst>
              <a:path extrusionOk="0" h="1377383" w="1377383">
                <a:moveTo>
                  <a:pt x="0" y="0"/>
                </a:moveTo>
                <a:lnTo>
                  <a:pt x="1377383" y="0"/>
                </a:lnTo>
                <a:lnTo>
                  <a:pt x="1377383" y="1377383"/>
                </a:lnTo>
                <a:lnTo>
                  <a:pt x="0" y="13773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1" name="Google Shape;121;g3f6edb484d6_2_48"/>
          <p:cNvSpPr/>
          <p:nvPr/>
        </p:nvSpPr>
        <p:spPr>
          <a:xfrm>
            <a:off x="10334437" y="5003847"/>
            <a:ext cx="927308" cy="938129"/>
          </a:xfrm>
          <a:custGeom>
            <a:rect b="b" l="l" r="r" t="t"/>
            <a:pathLst>
              <a:path extrusionOk="0" h="1405437" w="1389226">
                <a:moveTo>
                  <a:pt x="0" y="0"/>
                </a:moveTo>
                <a:lnTo>
                  <a:pt x="1389226" y="0"/>
                </a:lnTo>
                <a:lnTo>
                  <a:pt x="1389226" y="1405437"/>
                </a:lnTo>
                <a:lnTo>
                  <a:pt x="0" y="14054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-50" l="-1410" r="-830" t="-127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F0F2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6edb484d6_2_95"/>
          <p:cNvSpPr/>
          <p:nvPr/>
        </p:nvSpPr>
        <p:spPr>
          <a:xfrm>
            <a:off x="6428755" y="1657329"/>
            <a:ext cx="3588138" cy="3547772"/>
          </a:xfrm>
          <a:custGeom>
            <a:rect b="b" l="l" r="r" t="t"/>
            <a:pathLst>
              <a:path extrusionOk="0" h="5315014" w="5375488">
                <a:moveTo>
                  <a:pt x="0" y="0"/>
                </a:moveTo>
                <a:lnTo>
                  <a:pt x="5375489" y="0"/>
                </a:lnTo>
                <a:lnTo>
                  <a:pt x="5375489" y="5315014"/>
                </a:lnTo>
                <a:lnTo>
                  <a:pt x="0" y="53150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7" name="Google Shape;127;g3f6edb484d6_2_95"/>
          <p:cNvSpPr txBox="1"/>
          <p:nvPr/>
        </p:nvSpPr>
        <p:spPr>
          <a:xfrm>
            <a:off x="1574475" y="3132275"/>
            <a:ext cx="46344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900" u="none" cap="none" strike="noStrike">
                <a:solidFill>
                  <a:srgbClr val="3629D1"/>
                </a:solidFill>
                <a:latin typeface="Manrope"/>
                <a:ea typeface="Manrope"/>
                <a:cs typeface="Manrope"/>
                <a:sym typeface="Manrope"/>
              </a:rPr>
              <a:t>Eleitos </a:t>
            </a:r>
            <a:r>
              <a:rPr b="1" i="0" lang="en-US" sz="1900" u="none" cap="none" strike="noStrike">
                <a:solidFill>
                  <a:srgbClr val="3629D1"/>
                </a:solidFill>
                <a:latin typeface="Manrope"/>
                <a:ea typeface="Manrope"/>
                <a:cs typeface="Manrope"/>
                <a:sym typeface="Manrope"/>
              </a:rPr>
              <a:t>Rising Star Partner of the Year 2025,  Consulting Latam pela AWS.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g3f6edb484d6_2_95"/>
          <p:cNvSpPr/>
          <p:nvPr/>
        </p:nvSpPr>
        <p:spPr>
          <a:xfrm>
            <a:off x="10712663" y="685800"/>
            <a:ext cx="794028" cy="328728"/>
          </a:xfrm>
          <a:custGeom>
            <a:rect b="b" l="l" r="r" t="t"/>
            <a:pathLst>
              <a:path extrusionOk="0" h="492476" w="1189555">
                <a:moveTo>
                  <a:pt x="0" y="0"/>
                </a:moveTo>
                <a:lnTo>
                  <a:pt x="1189556" y="0"/>
                </a:lnTo>
                <a:lnTo>
                  <a:pt x="1189556" y="492476"/>
                </a:lnTo>
                <a:lnTo>
                  <a:pt x="0" y="4924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F0F2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g3f6edb484d6_1_0"/>
          <p:cNvGrpSpPr/>
          <p:nvPr/>
        </p:nvGrpSpPr>
        <p:grpSpPr>
          <a:xfrm rot="5400000">
            <a:off x="8718253" y="-177348"/>
            <a:ext cx="793807" cy="3339570"/>
            <a:chOff x="0" y="0"/>
            <a:chExt cx="134400" cy="565425"/>
          </a:xfrm>
        </p:grpSpPr>
        <p:sp>
          <p:nvSpPr>
            <p:cNvPr id="134" name="Google Shape;134;g3f6edb484d6_1_0"/>
            <p:cNvSpPr/>
            <p:nvPr/>
          </p:nvSpPr>
          <p:spPr>
            <a:xfrm>
              <a:off x="0" y="0"/>
              <a:ext cx="134256" cy="565404"/>
            </a:xfrm>
            <a:custGeom>
              <a:rect b="b" l="l" r="r" t="t"/>
              <a:pathLst>
                <a:path extrusionOk="0" h="565404" w="134256">
                  <a:moveTo>
                    <a:pt x="67128" y="0"/>
                  </a:moveTo>
                  <a:lnTo>
                    <a:pt x="67128" y="0"/>
                  </a:lnTo>
                  <a:cubicBezTo>
                    <a:pt x="104202" y="0"/>
                    <a:pt x="134256" y="30054"/>
                    <a:pt x="134256" y="67128"/>
                  </a:cubicBezTo>
                  <a:lnTo>
                    <a:pt x="134256" y="498276"/>
                  </a:lnTo>
                  <a:cubicBezTo>
                    <a:pt x="134256" y="535349"/>
                    <a:pt x="104202" y="565404"/>
                    <a:pt x="67128" y="565404"/>
                  </a:cubicBezTo>
                  <a:lnTo>
                    <a:pt x="67128" y="565404"/>
                  </a:lnTo>
                  <a:cubicBezTo>
                    <a:pt x="30054" y="565404"/>
                    <a:pt x="0" y="535349"/>
                    <a:pt x="0" y="498276"/>
                  </a:cubicBezTo>
                  <a:lnTo>
                    <a:pt x="0" y="67128"/>
                  </a:lnTo>
                  <a:cubicBezTo>
                    <a:pt x="0" y="30054"/>
                    <a:pt x="30054" y="0"/>
                    <a:pt x="67128" y="0"/>
                  </a:cubicBezTo>
                  <a:close/>
                </a:path>
              </a:pathLst>
            </a:custGeom>
            <a:gradFill>
              <a:gsLst>
                <a:gs pos="0">
                  <a:srgbClr val="3629D1"/>
                </a:gs>
                <a:gs pos="100000">
                  <a:srgbClr val="6F62FF"/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g3f6edb484d6_1_0"/>
            <p:cNvSpPr txBox="1"/>
            <p:nvPr/>
          </p:nvSpPr>
          <p:spPr>
            <a:xfrm>
              <a:off x="0" y="9525"/>
              <a:ext cx="134400" cy="55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9225" lIns="29225" spcFirstLastPara="1" rIns="29225" wrap="square" tIns="29225">
              <a:noAutofit/>
            </a:bodyPr>
            <a:lstStyle/>
            <a:p>
              <a:pPr indent="0" lvl="0" marL="0" marR="0" rtl="0" algn="ctr">
                <a:lnSpc>
                  <a:spcPct val="1255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6" name="Google Shape;136;g3f6edb484d6_1_0"/>
          <p:cNvGrpSpPr/>
          <p:nvPr/>
        </p:nvGrpSpPr>
        <p:grpSpPr>
          <a:xfrm rot="5400000">
            <a:off x="8718253" y="1049092"/>
            <a:ext cx="793807" cy="3339570"/>
            <a:chOff x="0" y="0"/>
            <a:chExt cx="134400" cy="565425"/>
          </a:xfrm>
        </p:grpSpPr>
        <p:sp>
          <p:nvSpPr>
            <p:cNvPr id="137" name="Google Shape;137;g3f6edb484d6_1_0"/>
            <p:cNvSpPr/>
            <p:nvPr/>
          </p:nvSpPr>
          <p:spPr>
            <a:xfrm>
              <a:off x="0" y="0"/>
              <a:ext cx="134256" cy="565404"/>
            </a:xfrm>
            <a:custGeom>
              <a:rect b="b" l="l" r="r" t="t"/>
              <a:pathLst>
                <a:path extrusionOk="0" h="565404" w="134256">
                  <a:moveTo>
                    <a:pt x="67128" y="0"/>
                  </a:moveTo>
                  <a:lnTo>
                    <a:pt x="67128" y="0"/>
                  </a:lnTo>
                  <a:cubicBezTo>
                    <a:pt x="104202" y="0"/>
                    <a:pt x="134256" y="30054"/>
                    <a:pt x="134256" y="67128"/>
                  </a:cubicBezTo>
                  <a:lnTo>
                    <a:pt x="134256" y="498276"/>
                  </a:lnTo>
                  <a:cubicBezTo>
                    <a:pt x="134256" y="535349"/>
                    <a:pt x="104202" y="565404"/>
                    <a:pt x="67128" y="565404"/>
                  </a:cubicBezTo>
                  <a:lnTo>
                    <a:pt x="67128" y="565404"/>
                  </a:lnTo>
                  <a:cubicBezTo>
                    <a:pt x="30054" y="565404"/>
                    <a:pt x="0" y="535349"/>
                    <a:pt x="0" y="498276"/>
                  </a:cubicBezTo>
                  <a:lnTo>
                    <a:pt x="0" y="67128"/>
                  </a:lnTo>
                  <a:cubicBezTo>
                    <a:pt x="0" y="30054"/>
                    <a:pt x="30054" y="0"/>
                    <a:pt x="67128" y="0"/>
                  </a:cubicBezTo>
                  <a:close/>
                </a:path>
              </a:pathLst>
            </a:custGeom>
            <a:gradFill>
              <a:gsLst>
                <a:gs pos="0">
                  <a:srgbClr val="3629D1"/>
                </a:gs>
                <a:gs pos="100000">
                  <a:srgbClr val="6F62FF"/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g3f6edb484d6_1_0"/>
            <p:cNvSpPr txBox="1"/>
            <p:nvPr/>
          </p:nvSpPr>
          <p:spPr>
            <a:xfrm>
              <a:off x="0" y="9525"/>
              <a:ext cx="134400" cy="55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9225" lIns="29225" spcFirstLastPara="1" rIns="29225" wrap="square" tIns="29225">
              <a:noAutofit/>
            </a:bodyPr>
            <a:lstStyle/>
            <a:p>
              <a:pPr indent="0" lvl="0" marL="0" marR="0" rtl="0" algn="ctr">
                <a:lnSpc>
                  <a:spcPct val="1255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9" name="Google Shape;139;g3f6edb484d6_1_0"/>
          <p:cNvGrpSpPr/>
          <p:nvPr/>
        </p:nvGrpSpPr>
        <p:grpSpPr>
          <a:xfrm rot="5400000">
            <a:off x="8718253" y="2273854"/>
            <a:ext cx="793807" cy="3339570"/>
            <a:chOff x="0" y="0"/>
            <a:chExt cx="134400" cy="565425"/>
          </a:xfrm>
        </p:grpSpPr>
        <p:sp>
          <p:nvSpPr>
            <p:cNvPr id="140" name="Google Shape;140;g3f6edb484d6_1_0"/>
            <p:cNvSpPr/>
            <p:nvPr/>
          </p:nvSpPr>
          <p:spPr>
            <a:xfrm>
              <a:off x="0" y="0"/>
              <a:ext cx="134256" cy="565404"/>
            </a:xfrm>
            <a:custGeom>
              <a:rect b="b" l="l" r="r" t="t"/>
              <a:pathLst>
                <a:path extrusionOk="0" h="565404" w="134256">
                  <a:moveTo>
                    <a:pt x="67128" y="0"/>
                  </a:moveTo>
                  <a:lnTo>
                    <a:pt x="67128" y="0"/>
                  </a:lnTo>
                  <a:cubicBezTo>
                    <a:pt x="104202" y="0"/>
                    <a:pt x="134256" y="30054"/>
                    <a:pt x="134256" y="67128"/>
                  </a:cubicBezTo>
                  <a:lnTo>
                    <a:pt x="134256" y="498276"/>
                  </a:lnTo>
                  <a:cubicBezTo>
                    <a:pt x="134256" y="535349"/>
                    <a:pt x="104202" y="565404"/>
                    <a:pt x="67128" y="565404"/>
                  </a:cubicBezTo>
                  <a:lnTo>
                    <a:pt x="67128" y="565404"/>
                  </a:lnTo>
                  <a:cubicBezTo>
                    <a:pt x="30054" y="565404"/>
                    <a:pt x="0" y="535349"/>
                    <a:pt x="0" y="498276"/>
                  </a:cubicBezTo>
                  <a:lnTo>
                    <a:pt x="0" y="67128"/>
                  </a:lnTo>
                  <a:cubicBezTo>
                    <a:pt x="0" y="30054"/>
                    <a:pt x="30054" y="0"/>
                    <a:pt x="67128" y="0"/>
                  </a:cubicBezTo>
                  <a:close/>
                </a:path>
              </a:pathLst>
            </a:custGeom>
            <a:gradFill>
              <a:gsLst>
                <a:gs pos="0">
                  <a:srgbClr val="3629D1"/>
                </a:gs>
                <a:gs pos="100000">
                  <a:srgbClr val="6F62FF"/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g3f6edb484d6_1_0"/>
            <p:cNvSpPr txBox="1"/>
            <p:nvPr/>
          </p:nvSpPr>
          <p:spPr>
            <a:xfrm>
              <a:off x="0" y="9525"/>
              <a:ext cx="134400" cy="55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9225" lIns="29225" spcFirstLastPara="1" rIns="29225" wrap="square" tIns="29225">
              <a:noAutofit/>
            </a:bodyPr>
            <a:lstStyle/>
            <a:p>
              <a:pPr indent="0" lvl="0" marL="0" marR="0" rtl="0" algn="ctr">
                <a:lnSpc>
                  <a:spcPct val="1255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2" name="Google Shape;142;g3f6edb484d6_1_0"/>
          <p:cNvGrpSpPr/>
          <p:nvPr/>
        </p:nvGrpSpPr>
        <p:grpSpPr>
          <a:xfrm rot="5400000">
            <a:off x="8718253" y="3498616"/>
            <a:ext cx="793807" cy="3339570"/>
            <a:chOff x="0" y="0"/>
            <a:chExt cx="134400" cy="565425"/>
          </a:xfrm>
        </p:grpSpPr>
        <p:sp>
          <p:nvSpPr>
            <p:cNvPr id="143" name="Google Shape;143;g3f6edb484d6_1_0"/>
            <p:cNvSpPr/>
            <p:nvPr/>
          </p:nvSpPr>
          <p:spPr>
            <a:xfrm>
              <a:off x="0" y="0"/>
              <a:ext cx="134256" cy="565404"/>
            </a:xfrm>
            <a:custGeom>
              <a:rect b="b" l="l" r="r" t="t"/>
              <a:pathLst>
                <a:path extrusionOk="0" h="565404" w="134256">
                  <a:moveTo>
                    <a:pt x="67128" y="0"/>
                  </a:moveTo>
                  <a:lnTo>
                    <a:pt x="67128" y="0"/>
                  </a:lnTo>
                  <a:cubicBezTo>
                    <a:pt x="104202" y="0"/>
                    <a:pt x="134256" y="30054"/>
                    <a:pt x="134256" y="67128"/>
                  </a:cubicBezTo>
                  <a:lnTo>
                    <a:pt x="134256" y="498276"/>
                  </a:lnTo>
                  <a:cubicBezTo>
                    <a:pt x="134256" y="535349"/>
                    <a:pt x="104202" y="565404"/>
                    <a:pt x="67128" y="565404"/>
                  </a:cubicBezTo>
                  <a:lnTo>
                    <a:pt x="67128" y="565404"/>
                  </a:lnTo>
                  <a:cubicBezTo>
                    <a:pt x="30054" y="565404"/>
                    <a:pt x="0" y="535349"/>
                    <a:pt x="0" y="498276"/>
                  </a:cubicBezTo>
                  <a:lnTo>
                    <a:pt x="0" y="67128"/>
                  </a:lnTo>
                  <a:cubicBezTo>
                    <a:pt x="0" y="30054"/>
                    <a:pt x="30054" y="0"/>
                    <a:pt x="67128" y="0"/>
                  </a:cubicBezTo>
                  <a:close/>
                </a:path>
              </a:pathLst>
            </a:custGeom>
            <a:gradFill>
              <a:gsLst>
                <a:gs pos="0">
                  <a:srgbClr val="3629D1"/>
                </a:gs>
                <a:gs pos="100000">
                  <a:srgbClr val="6F62FF"/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g3f6edb484d6_1_0"/>
            <p:cNvSpPr txBox="1"/>
            <p:nvPr/>
          </p:nvSpPr>
          <p:spPr>
            <a:xfrm>
              <a:off x="0" y="9525"/>
              <a:ext cx="134400" cy="55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9225" lIns="29225" spcFirstLastPara="1" rIns="29225" wrap="square" tIns="29225">
              <a:noAutofit/>
            </a:bodyPr>
            <a:lstStyle/>
            <a:p>
              <a:pPr indent="0" lvl="0" marL="0" marR="0" rtl="0" algn="ctr">
                <a:lnSpc>
                  <a:spcPct val="1255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5" name="Google Shape;145;g3f6edb484d6_1_0"/>
          <p:cNvSpPr txBox="1"/>
          <p:nvPr/>
        </p:nvSpPr>
        <p:spPr>
          <a:xfrm>
            <a:off x="685800" y="2391975"/>
            <a:ext cx="5190000" cy="24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rPr>
              <a:t>A cultura é o alicerce que sustenta nossa jornada rumo à inovação e excelência. Acreditamos na poderosa combinação de dados, empatia, pessoas e inclusão como os pilares fundamentais para o sucesso. Juntos, estamos trilhando um caminho único e enriquecedor, moldando o futuro das finanças com paixão e excelência.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g3f6edb484d6_1_0"/>
          <p:cNvSpPr txBox="1"/>
          <p:nvPr/>
        </p:nvSpPr>
        <p:spPr>
          <a:xfrm>
            <a:off x="685800" y="876300"/>
            <a:ext cx="39171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00"/>
              <a:buFont typeface="Arial"/>
              <a:buNone/>
            </a:pPr>
            <a:r>
              <a:rPr b="0" i="0" lang="en-US" sz="6700" u="none" cap="none" strike="noStrike">
                <a:solidFill>
                  <a:srgbClr val="3629D1"/>
                </a:solidFill>
                <a:latin typeface="Arial"/>
                <a:ea typeface="Arial"/>
                <a:cs typeface="Arial"/>
                <a:sym typeface="Arial"/>
              </a:rPr>
              <a:t>Parceiros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g3f6edb484d6_1_0"/>
          <p:cNvSpPr/>
          <p:nvPr/>
        </p:nvSpPr>
        <p:spPr>
          <a:xfrm>
            <a:off x="8180041" y="4962762"/>
            <a:ext cx="1872704" cy="459983"/>
          </a:xfrm>
          <a:custGeom>
            <a:rect b="b" l="l" r="r" t="t"/>
            <a:pathLst>
              <a:path extrusionOk="0" h="689113" w="2805549">
                <a:moveTo>
                  <a:pt x="0" y="0"/>
                </a:moveTo>
                <a:lnTo>
                  <a:pt x="2805549" y="0"/>
                </a:lnTo>
                <a:lnTo>
                  <a:pt x="2805549" y="689113"/>
                </a:lnTo>
                <a:lnTo>
                  <a:pt x="0" y="6891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8" name="Google Shape;148;g3f6edb484d6_1_0"/>
          <p:cNvSpPr/>
          <p:nvPr/>
        </p:nvSpPr>
        <p:spPr>
          <a:xfrm>
            <a:off x="8115673" y="2550657"/>
            <a:ext cx="2001601" cy="386023"/>
          </a:xfrm>
          <a:custGeom>
            <a:rect b="b" l="l" r="r" t="t"/>
            <a:pathLst>
              <a:path extrusionOk="0" h="578312" w="2998653">
                <a:moveTo>
                  <a:pt x="0" y="0"/>
                </a:moveTo>
                <a:lnTo>
                  <a:pt x="2998653" y="0"/>
                </a:lnTo>
                <a:lnTo>
                  <a:pt x="2998653" y="578311"/>
                </a:lnTo>
                <a:lnTo>
                  <a:pt x="0" y="5783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9" name="Google Shape;149;g3f6edb484d6_1_0"/>
          <p:cNvSpPr/>
          <p:nvPr/>
        </p:nvSpPr>
        <p:spPr>
          <a:xfrm>
            <a:off x="8694255" y="1056661"/>
            <a:ext cx="842990" cy="842990"/>
          </a:xfrm>
          <a:custGeom>
            <a:rect b="b" l="l" r="r" t="t"/>
            <a:pathLst>
              <a:path extrusionOk="0" h="1262906" w="1262906">
                <a:moveTo>
                  <a:pt x="0" y="0"/>
                </a:moveTo>
                <a:lnTo>
                  <a:pt x="1262906" y="0"/>
                </a:lnTo>
                <a:lnTo>
                  <a:pt x="1262906" y="1262906"/>
                </a:lnTo>
                <a:lnTo>
                  <a:pt x="0" y="12629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0" name="Google Shape;150;g3f6edb484d6_1_0"/>
          <p:cNvSpPr/>
          <p:nvPr/>
        </p:nvSpPr>
        <p:spPr>
          <a:xfrm>
            <a:off x="8082289" y="3683647"/>
            <a:ext cx="2068450" cy="568824"/>
          </a:xfrm>
          <a:custGeom>
            <a:rect b="b" l="l" r="r" t="t"/>
            <a:pathLst>
              <a:path extrusionOk="0" h="852171" w="3098802">
                <a:moveTo>
                  <a:pt x="0" y="0"/>
                </a:moveTo>
                <a:lnTo>
                  <a:pt x="3098803" y="0"/>
                </a:lnTo>
                <a:lnTo>
                  <a:pt x="3098803" y="852171"/>
                </a:lnTo>
                <a:lnTo>
                  <a:pt x="0" y="8521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b63e66dda_0_0"/>
          <p:cNvSpPr txBox="1"/>
          <p:nvPr/>
        </p:nvSpPr>
        <p:spPr>
          <a:xfrm>
            <a:off x="9143564" y="571507"/>
            <a:ext cx="2289000" cy="1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849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DATI.COM.BR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3fb63e66dda_0_0"/>
          <p:cNvSpPr/>
          <p:nvPr/>
        </p:nvSpPr>
        <p:spPr>
          <a:xfrm>
            <a:off x="698500" y="2601913"/>
            <a:ext cx="74043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7DFF"/>
              </a:buClr>
              <a:buSzPts val="1200"/>
              <a:buFont typeface="Manrope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O PROCESSO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g3fb63e66dda_0_0"/>
          <p:cNvSpPr/>
          <p:nvPr/>
        </p:nvSpPr>
        <p:spPr>
          <a:xfrm>
            <a:off x="698500" y="3014663"/>
            <a:ext cx="6933000" cy="12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763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700"/>
              <a:buFont typeface="Manrope"/>
              <a:buNone/>
            </a:pPr>
            <a:r>
              <a:rPr b="1" i="0" lang="en-US" sz="47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Como funciona uma migração bem feita</a:t>
            </a:r>
            <a:endParaRPr b="0" i="0" sz="4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g3fb63e66dda_0_0"/>
          <p:cNvSpPr/>
          <p:nvPr/>
        </p:nvSpPr>
        <p:spPr>
          <a:xfrm>
            <a:off x="698500" y="6267450"/>
            <a:ext cx="3060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891AB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Dati | Migração e modernização na AWS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g3fb63e66dda_0_0"/>
          <p:cNvSpPr/>
          <p:nvPr/>
        </p:nvSpPr>
        <p:spPr>
          <a:xfrm>
            <a:off x="11311831" y="6267450"/>
            <a:ext cx="2325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891AB"/>
              </a:buClr>
              <a:buSzPts val="1200"/>
              <a:buFont typeface="Manrope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07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b63e66dda_0_9"/>
          <p:cNvSpPr/>
          <p:nvPr/>
        </p:nvSpPr>
        <p:spPr>
          <a:xfrm>
            <a:off x="698500" y="466725"/>
            <a:ext cx="17487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7DFF"/>
              </a:buClr>
              <a:buSzPts val="1200"/>
              <a:buFont typeface="Manrope"/>
              <a:buNone/>
            </a:pPr>
            <a:r>
              <a:rPr b="1" i="0" lang="en-US" sz="1200" u="none" cap="none" strike="noStrike">
                <a:solidFill>
                  <a:srgbClr val="8C7DFF"/>
                </a:solidFill>
                <a:latin typeface="Manrope"/>
                <a:ea typeface="Manrope"/>
                <a:cs typeface="Manrope"/>
                <a:sym typeface="Manrope"/>
              </a:rPr>
              <a:t>POR QUE MIGRAR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7" name="Google Shape;167;g3fb63e66dda_0_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80031" y="444500"/>
            <a:ext cx="613468" cy="2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g3fb63e66dda_0_9"/>
          <p:cNvSpPr/>
          <p:nvPr/>
        </p:nvSpPr>
        <p:spPr>
          <a:xfrm>
            <a:off x="698500" y="1028700"/>
            <a:ext cx="9080700" cy="4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7877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anrope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O que muda quando o </a:t>
            </a:r>
            <a:endParaRPr b="1" i="0" sz="3100" u="none" cap="none" strike="noStrike">
              <a:solidFill>
                <a:srgbClr val="FFFFFF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7877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anrope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ambiente vira nuvem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3fb63e66dda_0_9"/>
          <p:cNvSpPr/>
          <p:nvPr/>
        </p:nvSpPr>
        <p:spPr>
          <a:xfrm>
            <a:off x="698500" y="2576221"/>
            <a:ext cx="431700" cy="431700"/>
          </a:xfrm>
          <a:prstGeom prst="roundRect">
            <a:avLst>
              <a:gd fmla="val 20588" name="adj"/>
            </a:avLst>
          </a:prstGeom>
          <a:gradFill>
            <a:gsLst>
              <a:gs pos="0">
                <a:srgbClr val="6838E8"/>
              </a:gs>
              <a:gs pos="100000">
                <a:srgbClr val="3503BB"/>
              </a:gs>
            </a:gsLst>
            <a:path path="circle">
              <a:fillToRect b="50%" l="50%" r="50%" t="50%"/>
            </a:path>
            <a:tileRect/>
          </a:gradFill>
          <a:ln cap="flat" cmpd="sng" w="6350">
            <a:solidFill>
              <a:srgbClr val="8F65FE"/>
            </a:solidFill>
            <a:prstDash val="solid"/>
            <a:round/>
            <a:headEnd len="sm" w="sm" type="none"/>
            <a:tailEnd len="sm" w="sm" type="none"/>
          </a:ln>
          <a:effectLst>
            <a:outerShdw blurRad="355600" rotWithShape="0" algn="bl" dir="5400000" dist="114300">
              <a:srgbClr val="240872">
                <a:alpha val="50200"/>
              </a:srgbClr>
            </a:outerShdw>
          </a:effectLst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0" name="Google Shape;170;g3fb63e66dda_0_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0100" y="2677821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g3fb63e66dda_0_9"/>
          <p:cNvSpPr/>
          <p:nvPr/>
        </p:nvSpPr>
        <p:spPr>
          <a:xfrm>
            <a:off x="698500" y="3147721"/>
            <a:ext cx="2759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7DFF"/>
              </a:buClr>
              <a:buSzPts val="1300"/>
              <a:buFont typeface="Manrope"/>
              <a:buNone/>
            </a:pPr>
            <a:r>
              <a:rPr b="1" i="0" lang="en-US" sz="1300" u="none" cap="none" strike="noStrike">
                <a:solidFill>
                  <a:srgbClr val="8C7DFF"/>
                </a:solidFill>
                <a:latin typeface="Manrope"/>
                <a:ea typeface="Manrope"/>
                <a:cs typeface="Manrope"/>
                <a:sym typeface="Manrope"/>
              </a:rPr>
              <a:t>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g3fb63e66dda_0_9"/>
          <p:cNvSpPr/>
          <p:nvPr/>
        </p:nvSpPr>
        <p:spPr>
          <a:xfrm>
            <a:off x="698500" y="3516021"/>
            <a:ext cx="27591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8278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Manrope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Custo visível e variável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3fb63e66dda_0_9"/>
          <p:cNvSpPr/>
          <p:nvPr/>
        </p:nvSpPr>
        <p:spPr>
          <a:xfrm>
            <a:off x="698500" y="3897517"/>
            <a:ext cx="2583300" cy="7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CFC9E6"/>
              </a:buClr>
              <a:buSzPts val="1400"/>
              <a:buFont typeface="Manrope"/>
              <a:buNone/>
            </a:pPr>
            <a:r>
              <a:rPr b="0" i="0" lang="en-US" sz="1400" u="none" cap="none" strike="noStrike">
                <a:solidFill>
                  <a:srgbClr val="CFC9E6"/>
                </a:solidFill>
                <a:latin typeface="Manrope"/>
                <a:ea typeface="Manrope"/>
                <a:cs typeface="Manrope"/>
                <a:sym typeface="Manrope"/>
              </a:rPr>
              <a:t>A conta passa a ter dono por aplicação. Paga-se o que está ligado.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3fb63e66dda_0_9"/>
          <p:cNvSpPr/>
          <p:nvPr/>
        </p:nvSpPr>
        <p:spPr>
          <a:xfrm>
            <a:off x="3460750" y="2576221"/>
            <a:ext cx="6300" cy="2763300"/>
          </a:xfrm>
          <a:prstGeom prst="rect">
            <a:avLst/>
          </a:prstGeom>
          <a:solidFill>
            <a:srgbClr val="FFFFFF">
              <a:alpha val="14120"/>
            </a:srgbClr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fb63e66dda_0_9"/>
          <p:cNvSpPr/>
          <p:nvPr/>
        </p:nvSpPr>
        <p:spPr>
          <a:xfrm>
            <a:off x="3721100" y="2576221"/>
            <a:ext cx="431700" cy="431700"/>
          </a:xfrm>
          <a:prstGeom prst="roundRect">
            <a:avLst>
              <a:gd fmla="val 20588" name="adj"/>
            </a:avLst>
          </a:prstGeom>
          <a:gradFill>
            <a:gsLst>
              <a:gs pos="0">
                <a:srgbClr val="6838E8"/>
              </a:gs>
              <a:gs pos="100000">
                <a:srgbClr val="3503BB"/>
              </a:gs>
            </a:gsLst>
            <a:path path="circle">
              <a:fillToRect b="50%" l="50%" r="50%" t="50%"/>
            </a:path>
            <a:tileRect/>
          </a:gradFill>
          <a:ln cap="flat" cmpd="sng" w="6350">
            <a:solidFill>
              <a:srgbClr val="8F65FE"/>
            </a:solidFill>
            <a:prstDash val="solid"/>
            <a:round/>
            <a:headEnd len="sm" w="sm" type="none"/>
            <a:tailEnd len="sm" w="sm" type="none"/>
          </a:ln>
          <a:effectLst>
            <a:outerShdw blurRad="355600" rotWithShape="0" algn="bl" dir="5400000" dist="114300">
              <a:srgbClr val="240872">
                <a:alpha val="50200"/>
              </a:srgbClr>
            </a:outerShdw>
          </a:effectLst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6" name="Google Shape;176;g3fb63e66dda_0_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22700" y="2677821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g3fb63e66dda_0_9"/>
          <p:cNvSpPr/>
          <p:nvPr/>
        </p:nvSpPr>
        <p:spPr>
          <a:xfrm>
            <a:off x="3721100" y="3147721"/>
            <a:ext cx="2472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7DFF"/>
              </a:buClr>
              <a:buSzPts val="1300"/>
              <a:buFont typeface="Manrope"/>
              <a:buNone/>
            </a:pPr>
            <a:r>
              <a:rPr b="1" i="0" lang="en-US" sz="1300" u="none" cap="none" strike="noStrike">
                <a:solidFill>
                  <a:srgbClr val="8C7DFF"/>
                </a:solidFill>
                <a:latin typeface="Manrope"/>
                <a:ea typeface="Manrope"/>
                <a:cs typeface="Manrope"/>
                <a:sym typeface="Manrope"/>
              </a:rPr>
              <a:t>02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g3fb63e66dda_0_9"/>
          <p:cNvSpPr/>
          <p:nvPr/>
        </p:nvSpPr>
        <p:spPr>
          <a:xfrm>
            <a:off x="3721100" y="3516021"/>
            <a:ext cx="23154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8278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Manrope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Fim do ciclo de renovação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3fb63e66dda_0_9"/>
          <p:cNvSpPr/>
          <p:nvPr/>
        </p:nvSpPr>
        <p:spPr>
          <a:xfrm>
            <a:off x="3721100" y="4139313"/>
            <a:ext cx="2315400" cy="7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CFC9E6"/>
              </a:buClr>
              <a:buSzPts val="1400"/>
              <a:buFont typeface="Manrope"/>
              <a:buNone/>
            </a:pPr>
            <a:r>
              <a:rPr b="0" i="0" lang="en-US" sz="1400" u="none" cap="none" strike="noStrike">
                <a:solidFill>
                  <a:srgbClr val="CFC9E6"/>
                </a:solidFill>
                <a:latin typeface="Manrope"/>
                <a:ea typeface="Manrope"/>
                <a:cs typeface="Manrope"/>
                <a:sym typeface="Manrope"/>
              </a:rPr>
              <a:t>O plano de cinco anos perde o degrau de investimento em hardware no meio dele.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3fb63e66dda_0_9"/>
          <p:cNvSpPr/>
          <p:nvPr/>
        </p:nvSpPr>
        <p:spPr>
          <a:xfrm>
            <a:off x="6223000" y="2576221"/>
            <a:ext cx="6300" cy="2763300"/>
          </a:xfrm>
          <a:prstGeom prst="rect">
            <a:avLst/>
          </a:prstGeom>
          <a:solidFill>
            <a:srgbClr val="FFFFFF">
              <a:alpha val="14120"/>
            </a:srgbClr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fb63e66dda_0_9"/>
          <p:cNvSpPr/>
          <p:nvPr/>
        </p:nvSpPr>
        <p:spPr>
          <a:xfrm>
            <a:off x="6483350" y="2576221"/>
            <a:ext cx="431700" cy="431700"/>
          </a:xfrm>
          <a:prstGeom prst="roundRect">
            <a:avLst>
              <a:gd fmla="val 20588" name="adj"/>
            </a:avLst>
          </a:prstGeom>
          <a:gradFill>
            <a:gsLst>
              <a:gs pos="0">
                <a:srgbClr val="6838E8"/>
              </a:gs>
              <a:gs pos="100000">
                <a:srgbClr val="3503BB"/>
              </a:gs>
            </a:gsLst>
            <a:path path="circle">
              <a:fillToRect b="50%" l="50%" r="50%" t="50%"/>
            </a:path>
            <a:tileRect/>
          </a:gradFill>
          <a:ln cap="flat" cmpd="sng" w="6350">
            <a:solidFill>
              <a:srgbClr val="8F65FE"/>
            </a:solidFill>
            <a:prstDash val="solid"/>
            <a:round/>
            <a:headEnd len="sm" w="sm" type="none"/>
            <a:tailEnd len="sm" w="sm" type="none"/>
          </a:ln>
          <a:effectLst>
            <a:outerShdw blurRad="355600" rotWithShape="0" algn="bl" dir="5400000" dist="114300">
              <a:srgbClr val="240872">
                <a:alpha val="50200"/>
              </a:srgbClr>
            </a:outerShdw>
          </a:effectLst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2" name="Google Shape;182;g3fb63e66dda_0_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4950" y="2677821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g3fb63e66dda_0_9"/>
          <p:cNvSpPr/>
          <p:nvPr/>
        </p:nvSpPr>
        <p:spPr>
          <a:xfrm>
            <a:off x="6483350" y="3147721"/>
            <a:ext cx="2472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7DFF"/>
              </a:buClr>
              <a:buSzPts val="1300"/>
              <a:buFont typeface="Manrope"/>
              <a:buNone/>
            </a:pPr>
            <a:r>
              <a:rPr b="1" i="0" lang="en-US" sz="1300" u="none" cap="none" strike="noStrike">
                <a:solidFill>
                  <a:srgbClr val="8C7DFF"/>
                </a:solidFill>
                <a:latin typeface="Manrope"/>
                <a:ea typeface="Manrope"/>
                <a:cs typeface="Manrope"/>
                <a:sym typeface="Manrope"/>
              </a:rPr>
              <a:t>03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g3fb63e66dda_0_9"/>
          <p:cNvSpPr/>
          <p:nvPr/>
        </p:nvSpPr>
        <p:spPr>
          <a:xfrm>
            <a:off x="6483350" y="3516021"/>
            <a:ext cx="23154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8278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Manrope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Segurança e resiliência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g3fb63e66dda_0_9"/>
          <p:cNvSpPr/>
          <p:nvPr/>
        </p:nvSpPr>
        <p:spPr>
          <a:xfrm>
            <a:off x="6483350" y="4139313"/>
            <a:ext cx="2315400" cy="9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CFC9E6"/>
              </a:buClr>
              <a:buSzPts val="1400"/>
              <a:buFont typeface="Manrope"/>
              <a:buNone/>
            </a:pPr>
            <a:r>
              <a:rPr b="0" i="0" lang="en-US" sz="1400" u="none" cap="none" strike="noStrike">
                <a:solidFill>
                  <a:srgbClr val="CFC9E6"/>
                </a:solidFill>
                <a:latin typeface="Manrope"/>
                <a:ea typeface="Manrope"/>
                <a:cs typeface="Manrope"/>
                <a:sym typeface="Manrope"/>
              </a:rPr>
              <a:t>Backup, redundância e controles que custariam outro data center on-premises.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g3fb63e66dda_0_9"/>
          <p:cNvSpPr/>
          <p:nvPr/>
        </p:nvSpPr>
        <p:spPr>
          <a:xfrm>
            <a:off x="8985250" y="2576221"/>
            <a:ext cx="6300" cy="2763300"/>
          </a:xfrm>
          <a:prstGeom prst="rect">
            <a:avLst/>
          </a:prstGeom>
          <a:solidFill>
            <a:srgbClr val="FFFFFF">
              <a:alpha val="14120"/>
            </a:srgbClr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fb63e66dda_0_9"/>
          <p:cNvSpPr/>
          <p:nvPr/>
        </p:nvSpPr>
        <p:spPr>
          <a:xfrm>
            <a:off x="9245600" y="2576221"/>
            <a:ext cx="431700" cy="431700"/>
          </a:xfrm>
          <a:prstGeom prst="roundRect">
            <a:avLst>
              <a:gd fmla="val 20588" name="adj"/>
            </a:avLst>
          </a:prstGeom>
          <a:gradFill>
            <a:gsLst>
              <a:gs pos="0">
                <a:srgbClr val="6838E8"/>
              </a:gs>
              <a:gs pos="100000">
                <a:srgbClr val="3503BB"/>
              </a:gs>
            </a:gsLst>
            <a:path path="circle">
              <a:fillToRect b="50%" l="50%" r="50%" t="50%"/>
            </a:path>
            <a:tileRect/>
          </a:gradFill>
          <a:ln cap="flat" cmpd="sng" w="6350">
            <a:solidFill>
              <a:srgbClr val="8F65FE"/>
            </a:solidFill>
            <a:prstDash val="solid"/>
            <a:round/>
            <a:headEnd len="sm" w="sm" type="none"/>
            <a:tailEnd len="sm" w="sm" type="none"/>
          </a:ln>
          <a:effectLst>
            <a:outerShdw blurRad="355600" rotWithShape="0" algn="bl" dir="5400000" dist="114300">
              <a:srgbClr val="240872">
                <a:alpha val="50200"/>
              </a:srgbClr>
            </a:outerShdw>
          </a:effectLst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8" name="Google Shape;188;g3fb63e66dda_0_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347200" y="2677821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g3fb63e66dda_0_9"/>
          <p:cNvSpPr/>
          <p:nvPr/>
        </p:nvSpPr>
        <p:spPr>
          <a:xfrm>
            <a:off x="9245600" y="3147721"/>
            <a:ext cx="2472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4DF64"/>
              </a:buClr>
              <a:buSzPts val="1300"/>
              <a:buFont typeface="Manrope"/>
              <a:buNone/>
            </a:pPr>
            <a:r>
              <a:rPr b="1" i="0" lang="en-US" sz="1300" u="none" cap="none" strike="noStrike">
                <a:solidFill>
                  <a:srgbClr val="A4DF64"/>
                </a:solidFill>
                <a:latin typeface="Manrope"/>
                <a:ea typeface="Manrope"/>
                <a:cs typeface="Manrope"/>
                <a:sym typeface="Manrope"/>
              </a:rPr>
              <a:t>04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g3fb63e66dda_0_9"/>
          <p:cNvSpPr/>
          <p:nvPr/>
        </p:nvSpPr>
        <p:spPr>
          <a:xfrm>
            <a:off x="9245600" y="3516021"/>
            <a:ext cx="23154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8278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Manrope"/>
              <a:buNone/>
            </a:pPr>
            <a:r>
              <a:rPr b="1" i="0" lang="en-US" sz="1700" u="none" cap="none" strike="noStrike">
                <a:solidFill>
                  <a:srgbClr val="A1DF6C"/>
                </a:solidFill>
                <a:latin typeface="Manrope"/>
                <a:ea typeface="Manrope"/>
                <a:cs typeface="Manrope"/>
                <a:sym typeface="Manrope"/>
              </a:rPr>
              <a:t>Base pronta para dados e IA</a:t>
            </a:r>
            <a:endParaRPr b="0" i="0" sz="1700" u="none" cap="none" strike="noStrike">
              <a:solidFill>
                <a:srgbClr val="A1DF6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g3fb63e66dda_0_9"/>
          <p:cNvSpPr/>
          <p:nvPr/>
        </p:nvSpPr>
        <p:spPr>
          <a:xfrm>
            <a:off x="9245600" y="4139313"/>
            <a:ext cx="2315400" cy="12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CFC9E6"/>
              </a:buClr>
              <a:buSzPts val="1400"/>
              <a:buFont typeface="Manrope"/>
              <a:buNone/>
            </a:pPr>
            <a:r>
              <a:rPr b="0" i="0" lang="en-US" sz="1400" u="none" cap="none" strike="noStrike">
                <a:solidFill>
                  <a:srgbClr val="CFC9E6"/>
                </a:solidFill>
                <a:latin typeface="Manrope"/>
                <a:ea typeface="Manrope"/>
                <a:cs typeface="Manrope"/>
                <a:sym typeface="Manrope"/>
              </a:rPr>
              <a:t>O que bloqueia o valor de analytics e IA hoje é o ambiente. Na nuvem, o dado está a um serviço de distância.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g3fb63e66dda_0_9"/>
          <p:cNvSpPr/>
          <p:nvPr/>
        </p:nvSpPr>
        <p:spPr>
          <a:xfrm>
            <a:off x="698500" y="6203867"/>
            <a:ext cx="3060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891AB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9891AB"/>
                </a:solidFill>
                <a:latin typeface="Manrope"/>
                <a:ea typeface="Manrope"/>
                <a:cs typeface="Manrope"/>
                <a:sym typeface="Manrope"/>
              </a:rPr>
              <a:t>Dati | Migração e modernização na AWS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3fb63e66dda_0_9"/>
          <p:cNvSpPr/>
          <p:nvPr/>
        </p:nvSpPr>
        <p:spPr>
          <a:xfrm>
            <a:off x="11299825" y="6267450"/>
            <a:ext cx="2445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891AB"/>
              </a:buClr>
              <a:buSzPts val="1200"/>
              <a:buFont typeface="Manrope"/>
              <a:buNone/>
            </a:pPr>
            <a:r>
              <a:rPr b="1" i="0" lang="en-US" sz="1200" u="none" cap="none" strike="noStrike">
                <a:solidFill>
                  <a:srgbClr val="9891AB"/>
                </a:solidFill>
                <a:latin typeface="Manrope"/>
                <a:ea typeface="Manrope"/>
                <a:cs typeface="Manrope"/>
                <a:sym typeface="Manrope"/>
              </a:rPr>
              <a:t>08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fb63e66dda_0_4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3E3E3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fb63e66dda_0_41"/>
          <p:cNvSpPr/>
          <p:nvPr/>
        </p:nvSpPr>
        <p:spPr>
          <a:xfrm>
            <a:off x="1527174" y="2538650"/>
            <a:ext cx="8831700" cy="749100"/>
          </a:xfrm>
          <a:prstGeom prst="round2SameRect">
            <a:avLst>
              <a:gd fmla="val 16667" name="adj1"/>
              <a:gd fmla="val 0" name="adj2"/>
            </a:avLst>
          </a:prstGeom>
          <a:gradFill>
            <a:gsLst>
              <a:gs pos="0">
                <a:srgbClr val="F1F1F1"/>
              </a:gs>
              <a:gs pos="100000">
                <a:srgbClr val="DED4F1"/>
              </a:gs>
            </a:gsLst>
            <a:lin ang="10800025" scaled="0"/>
          </a:gradFill>
          <a:ln>
            <a:noFill/>
          </a:ln>
        </p:spPr>
        <p:txBody>
          <a:bodyPr anchorCtr="0" anchor="ctr" bIns="66625" lIns="66625" spcFirstLastPara="1" rIns="66625" wrap="square" tIns="66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201" name="Google Shape;201;g3fb63e66dda_0_41"/>
          <p:cNvSpPr/>
          <p:nvPr/>
        </p:nvSpPr>
        <p:spPr>
          <a:xfrm>
            <a:off x="698500" y="466725"/>
            <a:ext cx="2733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5CC6"/>
              </a:buClr>
              <a:buSzPts val="1200"/>
              <a:buFont typeface="Manrope"/>
              <a:buNone/>
            </a:pPr>
            <a:r>
              <a:rPr b="1" i="0" lang="en-US" sz="1200" u="none" cap="none" strike="noStrike">
                <a:solidFill>
                  <a:srgbClr val="8F65FE"/>
                </a:solidFill>
                <a:latin typeface="Manrope"/>
                <a:ea typeface="Manrope"/>
                <a:cs typeface="Manrope"/>
                <a:sym typeface="Manrope"/>
              </a:rPr>
              <a:t>O CAMINHO ESTRUTURADO</a:t>
            </a:r>
            <a:endParaRPr b="0" i="0" sz="1200" u="none" cap="none" strike="noStrike">
              <a:solidFill>
                <a:srgbClr val="8F65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2" name="Google Shape;202;g3fb63e66dda_0_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80031" y="444500"/>
            <a:ext cx="613468" cy="2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g3fb63e66dda_0_41"/>
          <p:cNvSpPr/>
          <p:nvPr/>
        </p:nvSpPr>
        <p:spPr>
          <a:xfrm>
            <a:off x="698500" y="1078504"/>
            <a:ext cx="9465000" cy="8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78776"/>
              </a:lnSpc>
              <a:spcBef>
                <a:spcPts val="0"/>
              </a:spcBef>
              <a:spcAft>
                <a:spcPts val="0"/>
              </a:spcAft>
              <a:buClr>
                <a:srgbClr val="1A0F3D"/>
              </a:buClr>
              <a:buSzPts val="3100"/>
              <a:buFont typeface="Manrope"/>
              <a:buNone/>
            </a:pPr>
            <a:r>
              <a:rPr b="1" i="0" lang="en-US" sz="3100" u="none" cap="none" strike="noStrike">
                <a:solidFill>
                  <a:srgbClr val="1A0F3D"/>
                </a:solidFill>
                <a:latin typeface="Manrope"/>
                <a:ea typeface="Manrope"/>
                <a:cs typeface="Manrope"/>
                <a:sym typeface="Manrope"/>
              </a:rPr>
              <a:t>AWS MAP</a:t>
            </a:r>
            <a:endParaRPr b="1" sz="3100">
              <a:solidFill>
                <a:srgbClr val="1A0F3D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78776"/>
              </a:lnSpc>
              <a:spcBef>
                <a:spcPts val="0"/>
              </a:spcBef>
              <a:spcAft>
                <a:spcPts val="0"/>
              </a:spcAft>
              <a:buClr>
                <a:srgbClr val="1A0F3D"/>
              </a:buClr>
              <a:buSzPts val="3100"/>
              <a:buFont typeface="Manrope"/>
              <a:buNone/>
            </a:pPr>
            <a:r>
              <a:rPr b="1" i="0" lang="en-US" sz="3100" u="none" cap="none" strike="noStrike">
                <a:solidFill>
                  <a:srgbClr val="1A0F3D"/>
                </a:solidFill>
                <a:latin typeface="Manrope"/>
                <a:ea typeface="Manrope"/>
                <a:cs typeface="Manrope"/>
                <a:sym typeface="Manrope"/>
              </a:rPr>
              <a:t>metodologia e incentivo financeiro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3fb63e66dda_0_41"/>
          <p:cNvSpPr/>
          <p:nvPr/>
        </p:nvSpPr>
        <p:spPr>
          <a:xfrm>
            <a:off x="1892309" y="3528636"/>
            <a:ext cx="7736700" cy="417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3503BB"/>
              </a:gs>
              <a:gs pos="60000">
                <a:srgbClr val="6838E8"/>
              </a:gs>
              <a:gs pos="100000">
                <a:srgbClr val="6838E8">
                  <a:alpha val="14902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66625" lIns="66625" spcFirstLastPara="1" rIns="66625" wrap="square" tIns="66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205" name="Google Shape;205;g3fb63e66dda_0_41"/>
          <p:cNvSpPr/>
          <p:nvPr/>
        </p:nvSpPr>
        <p:spPr>
          <a:xfrm>
            <a:off x="1503658" y="3153873"/>
            <a:ext cx="791400" cy="791400"/>
          </a:xfrm>
          <a:prstGeom prst="roundRect">
            <a:avLst>
              <a:gd fmla="val 21053" name="adj"/>
            </a:avLst>
          </a:prstGeom>
          <a:gradFill>
            <a:gsLst>
              <a:gs pos="0">
                <a:srgbClr val="6838E8"/>
              </a:gs>
              <a:gs pos="100000">
                <a:srgbClr val="3503BB"/>
              </a:gs>
            </a:gsLst>
            <a:path path="circle">
              <a:fillToRect b="50%" l="50%" r="50%" t="50%"/>
            </a:path>
            <a:tileRect/>
          </a:gradFill>
          <a:ln cap="flat" cmpd="sng" w="6925">
            <a:solidFill>
              <a:srgbClr val="8F65FE"/>
            </a:solidFill>
            <a:prstDash val="solid"/>
            <a:round/>
            <a:headEnd len="sm" w="sm" type="none"/>
            <a:tailEnd len="sm" w="sm" type="none"/>
          </a:ln>
          <a:effectLst>
            <a:outerShdw blurRad="485814" rotWithShape="0" algn="bl" dir="12060000" dist="180445">
              <a:srgbClr val="240872">
                <a:alpha val="34900"/>
              </a:srgbClr>
            </a:outerShdw>
          </a:effectLst>
        </p:spPr>
        <p:txBody>
          <a:bodyPr anchorCtr="0" anchor="ctr" bIns="66625" lIns="66625" spcFirstLastPara="1" rIns="66625" wrap="square" tIns="66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6" name="Google Shape;206;g3fb63e66dda_0_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11864" y="3362078"/>
            <a:ext cx="374769" cy="374769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g3fb63e66dda_0_41"/>
          <p:cNvSpPr/>
          <p:nvPr/>
        </p:nvSpPr>
        <p:spPr>
          <a:xfrm>
            <a:off x="1503658" y="4139378"/>
            <a:ext cx="40818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500" lIns="18500" spcFirstLastPara="1" rIns="18500" wrap="square" tIns="18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5CC6"/>
              </a:buClr>
              <a:buSzPts val="1400"/>
              <a:buFont typeface="Manrope"/>
              <a:buNone/>
            </a:pPr>
            <a:r>
              <a:rPr b="1" i="0" lang="en-US" sz="1400" u="none" cap="none" strike="noStrike">
                <a:solidFill>
                  <a:srgbClr val="8F65FE"/>
                </a:solidFill>
                <a:latin typeface="Manrope"/>
                <a:ea typeface="Manrope"/>
                <a:cs typeface="Manrope"/>
                <a:sym typeface="Manrope"/>
              </a:rPr>
              <a:t>FASE 01</a:t>
            </a:r>
            <a:endParaRPr b="0" i="0" sz="1400" u="none" cap="none" strike="noStrike">
              <a:solidFill>
                <a:srgbClr val="8F65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g3fb63e66dda_0_41"/>
          <p:cNvSpPr/>
          <p:nvPr/>
        </p:nvSpPr>
        <p:spPr>
          <a:xfrm>
            <a:off x="79383" y="4470145"/>
            <a:ext cx="36399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6500" lIns="16500" spcFirstLastPara="1" rIns="16500" wrap="square" tIns="16500">
            <a:noAutofit/>
          </a:bodyPr>
          <a:lstStyle/>
          <a:p>
            <a:pPr indent="0" lvl="0" marL="0" marR="0" rtl="0" algn="ctr">
              <a:lnSpc>
                <a:spcPct val="74704"/>
              </a:lnSpc>
              <a:spcBef>
                <a:spcPts val="0"/>
              </a:spcBef>
              <a:spcAft>
                <a:spcPts val="0"/>
              </a:spcAft>
              <a:buClr>
                <a:srgbClr val="1A0F3D"/>
              </a:buClr>
              <a:buSzPts val="2500"/>
              <a:buFont typeface="Manrope"/>
              <a:buNone/>
            </a:pPr>
            <a:r>
              <a:rPr b="1" i="0" lang="en-US" sz="2500" u="none" cap="none" strike="noStrike">
                <a:solidFill>
                  <a:srgbClr val="1A0F3D"/>
                </a:solidFill>
                <a:latin typeface="Manrope"/>
                <a:ea typeface="Manrope"/>
                <a:cs typeface="Manrope"/>
                <a:sym typeface="Manrope"/>
              </a:rPr>
              <a:t>Assess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g3fb63e66dda_0_41"/>
          <p:cNvSpPr/>
          <p:nvPr/>
        </p:nvSpPr>
        <p:spPr>
          <a:xfrm>
            <a:off x="535689" y="4839829"/>
            <a:ext cx="2727300" cy="5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6500" lIns="16500" spcFirstLastPara="1" rIns="16500" wrap="square" tIns="16500">
            <a:noAutofit/>
          </a:bodyPr>
          <a:lstStyle/>
          <a:p>
            <a:pPr indent="0" lvl="0" marL="0" marR="0" rtl="0" algn="ctr">
              <a:lnSpc>
                <a:spcPct val="103158"/>
              </a:lnSpc>
              <a:spcBef>
                <a:spcPts val="0"/>
              </a:spcBef>
              <a:spcAft>
                <a:spcPts val="0"/>
              </a:spcAft>
              <a:buClr>
                <a:srgbClr val="5B5570"/>
              </a:buClr>
              <a:buSzPts val="1400"/>
              <a:buFont typeface="Manrope"/>
              <a:buNone/>
            </a:pPr>
            <a:r>
              <a:rPr b="0" i="0" lang="en-US" sz="1400" u="none" cap="none" strike="noStrike">
                <a:solidFill>
                  <a:srgbClr val="5B5570"/>
                </a:solidFill>
                <a:latin typeface="Manrope"/>
                <a:ea typeface="Manrope"/>
                <a:cs typeface="Manrope"/>
                <a:sym typeface="Manrope"/>
              </a:rPr>
              <a:t>Avaliação do ambiente, análise de TCO e business case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g3fb63e66dda_0_41"/>
          <p:cNvSpPr/>
          <p:nvPr/>
        </p:nvSpPr>
        <p:spPr>
          <a:xfrm>
            <a:off x="5547416" y="3153873"/>
            <a:ext cx="791400" cy="791400"/>
          </a:xfrm>
          <a:prstGeom prst="roundRect">
            <a:avLst>
              <a:gd fmla="val 21053" name="adj"/>
            </a:avLst>
          </a:prstGeom>
          <a:gradFill>
            <a:gsLst>
              <a:gs pos="0">
                <a:srgbClr val="6838E8"/>
              </a:gs>
              <a:gs pos="100000">
                <a:srgbClr val="3503BB"/>
              </a:gs>
            </a:gsLst>
            <a:path path="circle">
              <a:fillToRect b="50%" l="50%" r="50%" t="50%"/>
            </a:path>
            <a:tileRect/>
          </a:gradFill>
          <a:ln cap="flat" cmpd="sng" w="6925">
            <a:solidFill>
              <a:srgbClr val="8F65FE"/>
            </a:solidFill>
            <a:prstDash val="solid"/>
            <a:round/>
            <a:headEnd len="sm" w="sm" type="none"/>
            <a:tailEnd len="sm" w="sm" type="none"/>
          </a:ln>
          <a:effectLst>
            <a:outerShdw blurRad="485814" rotWithShape="0" algn="bl" dir="12060000" dist="180445">
              <a:srgbClr val="240872">
                <a:alpha val="34900"/>
              </a:srgbClr>
            </a:outerShdw>
          </a:effectLst>
        </p:spPr>
        <p:txBody>
          <a:bodyPr anchorCtr="0" anchor="ctr" bIns="66625" lIns="66625" spcFirstLastPara="1" rIns="66625" wrap="square" tIns="66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1" name="Google Shape;211;g3fb63e66dda_0_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55622" y="3362078"/>
            <a:ext cx="374769" cy="374769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g3fb63e66dda_0_41"/>
          <p:cNvSpPr/>
          <p:nvPr/>
        </p:nvSpPr>
        <p:spPr>
          <a:xfrm>
            <a:off x="5547416" y="4139378"/>
            <a:ext cx="40818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500" lIns="18500" spcFirstLastPara="1" rIns="18500" wrap="square" tIns="18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5CC6"/>
              </a:buClr>
              <a:buSzPts val="1400"/>
              <a:buFont typeface="Manrope"/>
              <a:buNone/>
            </a:pPr>
            <a:r>
              <a:rPr b="1" i="0" lang="en-US" sz="1400" u="none" cap="none" strike="noStrike">
                <a:solidFill>
                  <a:srgbClr val="8F65FE"/>
                </a:solidFill>
                <a:latin typeface="Manrope"/>
                <a:ea typeface="Manrope"/>
                <a:cs typeface="Manrope"/>
                <a:sym typeface="Manrope"/>
              </a:rPr>
              <a:t>FASE 02</a:t>
            </a:r>
            <a:endParaRPr b="0" i="0" sz="1400" u="none" cap="none" strike="noStrike">
              <a:solidFill>
                <a:srgbClr val="8F65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g3fb63e66dda_0_41"/>
          <p:cNvSpPr/>
          <p:nvPr/>
        </p:nvSpPr>
        <p:spPr>
          <a:xfrm>
            <a:off x="4123112" y="4470145"/>
            <a:ext cx="36399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6500" lIns="16500" spcFirstLastPara="1" rIns="16500" wrap="square" tIns="16500">
            <a:noAutofit/>
          </a:bodyPr>
          <a:lstStyle/>
          <a:p>
            <a:pPr indent="0" lvl="0" marL="0" marR="0" rtl="0" algn="ctr">
              <a:lnSpc>
                <a:spcPct val="74704"/>
              </a:lnSpc>
              <a:spcBef>
                <a:spcPts val="0"/>
              </a:spcBef>
              <a:spcAft>
                <a:spcPts val="0"/>
              </a:spcAft>
              <a:buClr>
                <a:srgbClr val="1A0F3D"/>
              </a:buClr>
              <a:buSzPts val="2500"/>
              <a:buFont typeface="Manrope"/>
              <a:buNone/>
            </a:pPr>
            <a:r>
              <a:rPr b="1" i="0" lang="en-US" sz="2500" u="none" cap="none" strike="noStrike">
                <a:solidFill>
                  <a:srgbClr val="1A0F3D"/>
                </a:solidFill>
                <a:latin typeface="Manrope"/>
                <a:ea typeface="Manrope"/>
                <a:cs typeface="Manrope"/>
                <a:sym typeface="Manrope"/>
              </a:rPr>
              <a:t>Mobilize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g3fb63e66dda_0_41"/>
          <p:cNvSpPr/>
          <p:nvPr/>
        </p:nvSpPr>
        <p:spPr>
          <a:xfrm>
            <a:off x="4543828" y="4839837"/>
            <a:ext cx="2798700" cy="5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6500" lIns="16500" spcFirstLastPara="1" rIns="16500" wrap="square" tIns="16500">
            <a:noAutofit/>
          </a:bodyPr>
          <a:lstStyle/>
          <a:p>
            <a:pPr indent="0" lvl="0" marL="0" marR="0" rtl="0" algn="ctr">
              <a:lnSpc>
                <a:spcPct val="103158"/>
              </a:lnSpc>
              <a:spcBef>
                <a:spcPts val="0"/>
              </a:spcBef>
              <a:spcAft>
                <a:spcPts val="0"/>
              </a:spcAft>
              <a:buClr>
                <a:srgbClr val="5B5570"/>
              </a:buClr>
              <a:buSzPts val="1400"/>
              <a:buFont typeface="Manrope"/>
              <a:buNone/>
            </a:pPr>
            <a:r>
              <a:rPr b="0" i="0" lang="en-US" sz="1400" u="none" cap="none" strike="noStrike">
                <a:solidFill>
                  <a:srgbClr val="5B5570"/>
                </a:solidFill>
                <a:latin typeface="Manrope"/>
                <a:ea typeface="Manrope"/>
                <a:cs typeface="Manrope"/>
                <a:sym typeface="Manrope"/>
              </a:rPr>
              <a:t>Fundação na AWS: rede, identidade, segurança e plano de ondas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g3fb63e66dda_0_41"/>
          <p:cNvSpPr/>
          <p:nvPr/>
        </p:nvSpPr>
        <p:spPr>
          <a:xfrm>
            <a:off x="9591282" y="3153873"/>
            <a:ext cx="791400" cy="791400"/>
          </a:xfrm>
          <a:prstGeom prst="roundRect">
            <a:avLst>
              <a:gd fmla="val 21053" name="adj"/>
            </a:avLst>
          </a:prstGeom>
          <a:gradFill>
            <a:gsLst>
              <a:gs pos="0">
                <a:srgbClr val="6838E8"/>
              </a:gs>
              <a:gs pos="100000">
                <a:srgbClr val="3503BB"/>
              </a:gs>
            </a:gsLst>
            <a:path path="circle">
              <a:fillToRect b="50%" l="50%" r="50%" t="50%"/>
            </a:path>
            <a:tileRect/>
          </a:gradFill>
          <a:ln cap="flat" cmpd="sng" w="6925">
            <a:solidFill>
              <a:srgbClr val="8F65FE"/>
            </a:solidFill>
            <a:prstDash val="solid"/>
            <a:round/>
            <a:headEnd len="sm" w="sm" type="none"/>
            <a:tailEnd len="sm" w="sm" type="none"/>
          </a:ln>
          <a:effectLst>
            <a:outerShdw blurRad="485814" rotWithShape="0" algn="bl" dir="12060000" dist="180445">
              <a:srgbClr val="240872">
                <a:alpha val="34900"/>
              </a:srgbClr>
            </a:outerShdw>
          </a:effectLst>
        </p:spPr>
        <p:txBody>
          <a:bodyPr anchorCtr="0" anchor="ctr" bIns="66625" lIns="66625" spcFirstLastPara="1" rIns="66625" wrap="square" tIns="66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6" name="Google Shape;216;g3fb63e66dda_0_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99488" y="3362078"/>
            <a:ext cx="374769" cy="37476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g3fb63e66dda_0_41"/>
          <p:cNvSpPr/>
          <p:nvPr/>
        </p:nvSpPr>
        <p:spPr>
          <a:xfrm>
            <a:off x="9591282" y="4139374"/>
            <a:ext cx="7914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500" lIns="18500" spcFirstLastPara="1" rIns="18500" wrap="square" tIns="18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5CC6"/>
              </a:buClr>
              <a:buSzPts val="1400"/>
              <a:buFont typeface="Manrope"/>
              <a:buNone/>
            </a:pPr>
            <a:r>
              <a:rPr b="1" i="0" lang="en-US" sz="1400" u="none" cap="none" strike="noStrike">
                <a:solidFill>
                  <a:srgbClr val="8F65FE"/>
                </a:solidFill>
                <a:latin typeface="Manrope"/>
                <a:ea typeface="Manrope"/>
                <a:cs typeface="Manrope"/>
                <a:sym typeface="Manrope"/>
              </a:rPr>
              <a:t>FASE 03</a:t>
            </a:r>
            <a:endParaRPr b="0" i="0" sz="1400" u="none" cap="none" strike="noStrike">
              <a:solidFill>
                <a:srgbClr val="8F65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g3fb63e66dda_0_41"/>
          <p:cNvSpPr/>
          <p:nvPr/>
        </p:nvSpPr>
        <p:spPr>
          <a:xfrm>
            <a:off x="8319322" y="4470141"/>
            <a:ext cx="34083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6500" lIns="16500" spcFirstLastPara="1" rIns="16500" wrap="square" tIns="16500">
            <a:noAutofit/>
          </a:bodyPr>
          <a:lstStyle/>
          <a:p>
            <a:pPr indent="0" lvl="0" marL="0" marR="0" rtl="0" algn="l">
              <a:lnSpc>
                <a:spcPct val="74704"/>
              </a:lnSpc>
              <a:spcBef>
                <a:spcPts val="0"/>
              </a:spcBef>
              <a:spcAft>
                <a:spcPts val="0"/>
              </a:spcAft>
              <a:buClr>
                <a:srgbClr val="1A0F3D"/>
              </a:buClr>
              <a:buSzPts val="2500"/>
              <a:buFont typeface="Manrope"/>
              <a:buNone/>
            </a:pPr>
            <a:r>
              <a:rPr b="1" i="0" lang="en-US" sz="2500" u="none" cap="none" strike="noStrike">
                <a:solidFill>
                  <a:srgbClr val="1A0F3D"/>
                </a:solidFill>
                <a:latin typeface="Manrope"/>
                <a:ea typeface="Manrope"/>
                <a:cs typeface="Manrope"/>
                <a:sym typeface="Manrope"/>
              </a:rPr>
              <a:t>Migrate &amp; Modernize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g3fb63e66dda_0_41"/>
          <p:cNvSpPr/>
          <p:nvPr/>
        </p:nvSpPr>
        <p:spPr>
          <a:xfrm>
            <a:off x="8319233" y="4811454"/>
            <a:ext cx="3408300" cy="5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6500" lIns="16500" spcFirstLastPara="1" rIns="16500" wrap="square" tIns="16500">
            <a:noAutofit/>
          </a:bodyPr>
          <a:lstStyle/>
          <a:p>
            <a:pPr indent="0" lvl="0" marL="0" marR="0" rtl="0" algn="ctr">
              <a:lnSpc>
                <a:spcPct val="103158"/>
              </a:lnSpc>
              <a:spcBef>
                <a:spcPts val="0"/>
              </a:spcBef>
              <a:spcAft>
                <a:spcPts val="0"/>
              </a:spcAft>
              <a:buClr>
                <a:srgbClr val="5B5570"/>
              </a:buClr>
              <a:buSzPts val="1400"/>
              <a:buFont typeface="Manrope"/>
              <a:buNone/>
            </a:pPr>
            <a:r>
              <a:rPr b="0" i="0" lang="en-US" sz="1400" u="none" cap="none" strike="noStrike">
                <a:solidFill>
                  <a:srgbClr val="5B5570"/>
                </a:solidFill>
                <a:latin typeface="Manrope"/>
                <a:ea typeface="Manrope"/>
                <a:cs typeface="Manrope"/>
                <a:sym typeface="Manrope"/>
              </a:rPr>
              <a:t>Execução onda a onda, com modernização dentro do processo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g3fb63e66dda_0_41"/>
          <p:cNvSpPr/>
          <p:nvPr/>
        </p:nvSpPr>
        <p:spPr>
          <a:xfrm>
            <a:off x="2643946" y="2710570"/>
            <a:ext cx="6598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500" lIns="18500" spcFirstLastPara="1" rIns="18500" wrap="square" tIns="18500">
            <a:noAutofit/>
          </a:bodyPr>
          <a:lstStyle/>
          <a:p>
            <a:pPr indent="0" lvl="0" marL="0" marR="0" rtl="0" algn="l">
              <a:lnSpc>
                <a:spcPct val="101818"/>
              </a:lnSpc>
              <a:spcBef>
                <a:spcPts val="0"/>
              </a:spcBef>
              <a:spcAft>
                <a:spcPts val="0"/>
              </a:spcAft>
              <a:buClr>
                <a:srgbClr val="5B5570"/>
              </a:buClr>
              <a:buSzPts val="1700"/>
              <a:buFont typeface="Manrope"/>
              <a:buNone/>
            </a:pPr>
            <a:r>
              <a:rPr b="0" i="0" lang="en-US" sz="1700" u="none" cap="none" strike="noStrike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rPr>
              <a:t>Cada fase tem metodologia, entregável e</a:t>
            </a:r>
            <a:r>
              <a:rPr b="0" i="0" lang="en-US" sz="1700" u="none" cap="none" strike="noStrik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 </a:t>
            </a:r>
            <a:r>
              <a:rPr b="1" i="0" lang="en-US" sz="1700" u="none" cap="none" strike="noStrike">
                <a:solidFill>
                  <a:srgbClr val="8F65FE"/>
                </a:solidFill>
                <a:latin typeface="Manrope"/>
                <a:ea typeface="Manrope"/>
                <a:cs typeface="Manrope"/>
                <a:sym typeface="Manrope"/>
              </a:rPr>
              <a:t>incentivo financeiro</a:t>
            </a:r>
            <a:r>
              <a:rPr b="0" i="0" lang="en-US" sz="1700" u="none" cap="none" strike="noStrike">
                <a:solidFill>
                  <a:srgbClr val="8F65FE"/>
                </a:solidFill>
                <a:latin typeface="Manrope"/>
                <a:ea typeface="Manrope"/>
                <a:cs typeface="Manrope"/>
                <a:sym typeface="Manrope"/>
              </a:rPr>
              <a:t>.</a:t>
            </a:r>
            <a:endParaRPr b="0" i="0" sz="1700" u="none" cap="none" strike="noStrike">
              <a:solidFill>
                <a:srgbClr val="8F65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g3fb63e66dda_0_41"/>
          <p:cNvSpPr/>
          <p:nvPr/>
        </p:nvSpPr>
        <p:spPr>
          <a:xfrm>
            <a:off x="698500" y="6267450"/>
            <a:ext cx="3060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18A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77718A"/>
                </a:solidFill>
                <a:latin typeface="Manrope"/>
                <a:ea typeface="Manrope"/>
                <a:cs typeface="Manrope"/>
                <a:sym typeface="Manrope"/>
              </a:rPr>
              <a:t>Dati | Migração e modernização na AWS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g3fb63e66dda_0_41"/>
          <p:cNvSpPr/>
          <p:nvPr/>
        </p:nvSpPr>
        <p:spPr>
          <a:xfrm>
            <a:off x="11298436" y="6267450"/>
            <a:ext cx="2457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18A"/>
              </a:buClr>
              <a:buSzPts val="1200"/>
              <a:buFont typeface="Manrope"/>
              <a:buNone/>
            </a:pPr>
            <a:r>
              <a:rPr b="1" i="0" lang="en-US" sz="1200" u="none" cap="none" strike="noStrike">
                <a:solidFill>
                  <a:srgbClr val="77718A"/>
                </a:solidFill>
                <a:latin typeface="Manrope"/>
                <a:ea typeface="Manrope"/>
                <a:cs typeface="Manrope"/>
                <a:sym typeface="Manrope"/>
              </a:rPr>
              <a:t>09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fb63e66dda_0_6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3E3E3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g3fb63e66dda_0_69"/>
          <p:cNvSpPr/>
          <p:nvPr/>
        </p:nvSpPr>
        <p:spPr>
          <a:xfrm>
            <a:off x="698500" y="466725"/>
            <a:ext cx="3103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5CC6"/>
              </a:buClr>
              <a:buSzPts val="1200"/>
              <a:buFont typeface="Manrope"/>
              <a:buNone/>
            </a:pPr>
            <a:r>
              <a:rPr b="1" i="0" lang="en-US" sz="1200" u="none" cap="none" strike="noStrike">
                <a:solidFill>
                  <a:srgbClr val="8F65FE"/>
                </a:solidFill>
                <a:latin typeface="Manrope"/>
                <a:ea typeface="Manrope"/>
                <a:cs typeface="Manrope"/>
                <a:sym typeface="Manrope"/>
              </a:rPr>
              <a:t>A ESTRATÉGIA DE VELOCIDADE</a:t>
            </a:r>
            <a:endParaRPr b="0" i="0" sz="1200" u="none" cap="none" strike="noStrike">
              <a:solidFill>
                <a:srgbClr val="8F65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0" name="Google Shape;230;g3fb63e66dda_0_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80031" y="444500"/>
            <a:ext cx="613468" cy="2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g3fb63e66dda_0_69"/>
          <p:cNvSpPr/>
          <p:nvPr/>
        </p:nvSpPr>
        <p:spPr>
          <a:xfrm>
            <a:off x="698500" y="1028700"/>
            <a:ext cx="9918900" cy="4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78776"/>
              </a:lnSpc>
              <a:spcBef>
                <a:spcPts val="0"/>
              </a:spcBef>
              <a:spcAft>
                <a:spcPts val="0"/>
              </a:spcAft>
              <a:buClr>
                <a:srgbClr val="1A0F3D"/>
              </a:buClr>
              <a:buSzPts val="3100"/>
              <a:buFont typeface="Manrope"/>
              <a:buNone/>
            </a:pPr>
            <a:r>
              <a:rPr b="1" i="0" lang="en-US" sz="3100" u="none" cap="none" strike="noStrike">
                <a:solidFill>
                  <a:srgbClr val="1A0F3D"/>
                </a:solidFill>
                <a:latin typeface="Manrope"/>
                <a:ea typeface="Manrope"/>
                <a:cs typeface="Manrope"/>
                <a:sym typeface="Manrope"/>
              </a:rPr>
              <a:t>A velocidade vem do </a:t>
            </a:r>
            <a:r>
              <a:rPr b="1" i="0" lang="en-US" sz="3100" u="none" cap="none" strike="noStrike">
                <a:solidFill>
                  <a:srgbClr val="8F65FE"/>
                </a:solidFill>
                <a:latin typeface="Manrope"/>
                <a:ea typeface="Manrope"/>
                <a:cs typeface="Manrope"/>
                <a:sym typeface="Manrope"/>
              </a:rPr>
              <a:t>as-is</a:t>
            </a:r>
            <a:endParaRPr b="0" i="0" sz="3100" u="none" cap="none" strike="noStrike">
              <a:solidFill>
                <a:srgbClr val="8F65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g3fb63e66dda_0_69"/>
          <p:cNvSpPr/>
          <p:nvPr/>
        </p:nvSpPr>
        <p:spPr>
          <a:xfrm>
            <a:off x="698500" y="1555453"/>
            <a:ext cx="104775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01818"/>
              </a:lnSpc>
              <a:spcBef>
                <a:spcPts val="0"/>
              </a:spcBef>
              <a:spcAft>
                <a:spcPts val="0"/>
              </a:spcAft>
              <a:buClr>
                <a:srgbClr val="5B5570"/>
              </a:buClr>
              <a:buSzPts val="1600"/>
              <a:buFont typeface="Manrope"/>
              <a:buNone/>
            </a:pPr>
            <a:r>
              <a:rPr b="0" i="0" lang="en-US" sz="1600" u="none" cap="none" strike="noStrike">
                <a:solidFill>
                  <a:srgbClr val="5B5570"/>
                </a:solidFill>
                <a:latin typeface="Manrope"/>
                <a:ea typeface="Manrope"/>
                <a:cs typeface="Manrope"/>
                <a:sym typeface="Manrope"/>
              </a:rPr>
              <a:t>A IA permite modernizar alguns pontos no caminho, sem pagar pedágio de prazo.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g3fb63e66dda_0_69"/>
          <p:cNvSpPr/>
          <p:nvPr/>
        </p:nvSpPr>
        <p:spPr>
          <a:xfrm>
            <a:off x="5532050" y="2895997"/>
            <a:ext cx="6300" cy="2621700"/>
          </a:xfrm>
          <a:prstGeom prst="rect">
            <a:avLst/>
          </a:prstGeom>
          <a:solidFill>
            <a:srgbClr val="C9C4D8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fb63e66dda_0_69"/>
          <p:cNvSpPr/>
          <p:nvPr/>
        </p:nvSpPr>
        <p:spPr>
          <a:xfrm>
            <a:off x="698500" y="2946797"/>
            <a:ext cx="470100" cy="470100"/>
          </a:xfrm>
          <a:prstGeom prst="roundRect">
            <a:avLst>
              <a:gd fmla="val 20270" name="adj"/>
            </a:avLst>
          </a:prstGeom>
          <a:gradFill>
            <a:gsLst>
              <a:gs pos="0">
                <a:srgbClr val="6838E8"/>
              </a:gs>
              <a:gs pos="100000">
                <a:srgbClr val="3503BB"/>
              </a:gs>
            </a:gsLst>
            <a:path path="circle">
              <a:fillToRect b="50%" l="50%" r="50%" t="50%"/>
            </a:path>
            <a:tileRect/>
          </a:gradFill>
          <a:ln cap="flat" cmpd="sng" w="6350">
            <a:solidFill>
              <a:srgbClr val="8F65FE"/>
            </a:solidFill>
            <a:prstDash val="solid"/>
            <a:round/>
            <a:headEnd len="sm" w="sm" type="none"/>
            <a:tailEnd len="sm" w="sm" type="none"/>
          </a:ln>
          <a:effectLst>
            <a:outerShdw blurRad="381000" rotWithShape="0" algn="bl" dir="5400000" dist="127000">
              <a:srgbClr val="240872">
                <a:alpha val="34900"/>
              </a:srgbClr>
            </a:outerShdw>
          </a:effectLst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5" name="Google Shape;235;g3fb63e66dda_0_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6450" y="3054747"/>
            <a:ext cx="254000" cy="2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g3fb63e66dda_0_69"/>
          <p:cNvSpPr/>
          <p:nvPr/>
        </p:nvSpPr>
        <p:spPr>
          <a:xfrm>
            <a:off x="698500" y="3581797"/>
            <a:ext cx="5532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5CC6"/>
              </a:buClr>
              <a:buSzPts val="1300"/>
              <a:buFont typeface="Manrope"/>
              <a:buNone/>
            </a:pPr>
            <a:r>
              <a:rPr b="1" i="0" lang="en-US" sz="1300" u="none" cap="none" strike="noStrike">
                <a:solidFill>
                  <a:srgbClr val="8F65FE"/>
                </a:solidFill>
                <a:latin typeface="Manrope"/>
                <a:ea typeface="Manrope"/>
                <a:cs typeface="Manrope"/>
                <a:sym typeface="Manrope"/>
              </a:rPr>
              <a:t>MIGRAÇÃO AS-IS</a:t>
            </a:r>
            <a:endParaRPr b="0" i="0" sz="1300" u="none" cap="none" strike="noStrike">
              <a:solidFill>
                <a:srgbClr val="8F65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g3fb63e66dda_0_69"/>
          <p:cNvSpPr/>
          <p:nvPr/>
        </p:nvSpPr>
        <p:spPr>
          <a:xfrm>
            <a:off x="698500" y="3975497"/>
            <a:ext cx="5532300" cy="3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78857"/>
              </a:lnSpc>
              <a:spcBef>
                <a:spcPts val="0"/>
              </a:spcBef>
              <a:spcAft>
                <a:spcPts val="0"/>
              </a:spcAft>
              <a:buClr>
                <a:srgbClr val="1A0F3D"/>
              </a:buClr>
              <a:buSzPts val="2300"/>
              <a:buFont typeface="Manrope"/>
              <a:buNone/>
            </a:pPr>
            <a:r>
              <a:rPr b="1" i="0" lang="en-US" sz="2300" u="none" cap="none" strike="noStrike">
                <a:solidFill>
                  <a:srgbClr val="1A0F3D"/>
                </a:solidFill>
                <a:latin typeface="Manrope"/>
                <a:ea typeface="Manrope"/>
                <a:cs typeface="Manrope"/>
                <a:sym typeface="Manrope"/>
              </a:rPr>
              <a:t>Migre rápido como está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g3fb63e66dda_0_69"/>
          <p:cNvSpPr/>
          <p:nvPr/>
        </p:nvSpPr>
        <p:spPr>
          <a:xfrm>
            <a:off x="698500" y="4456017"/>
            <a:ext cx="4193400" cy="7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06842"/>
              </a:lnSpc>
              <a:spcBef>
                <a:spcPts val="0"/>
              </a:spcBef>
              <a:spcAft>
                <a:spcPts val="0"/>
              </a:spcAft>
              <a:buClr>
                <a:srgbClr val="5B5570"/>
              </a:buClr>
              <a:buSzPts val="1400"/>
              <a:buFont typeface="Manrope"/>
              <a:buNone/>
            </a:pPr>
            <a:r>
              <a:rPr b="0" i="0" lang="en-US" sz="1400" u="none" cap="none" strike="noStrike">
                <a:solidFill>
                  <a:srgbClr val="5B5570"/>
                </a:solidFill>
                <a:latin typeface="Manrope"/>
                <a:ea typeface="Manrope"/>
                <a:cs typeface="Manrope"/>
                <a:sym typeface="Manrope"/>
              </a:rPr>
              <a:t>Migramos o máximo possível da forma como está. </a:t>
            </a:r>
            <a:endParaRPr b="0" i="0" sz="1400" u="none" cap="none" strike="noStrike">
              <a:solidFill>
                <a:srgbClr val="5B557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06842"/>
              </a:lnSpc>
              <a:spcBef>
                <a:spcPts val="0"/>
              </a:spcBef>
              <a:spcAft>
                <a:spcPts val="0"/>
              </a:spcAft>
              <a:buClr>
                <a:srgbClr val="5B5570"/>
              </a:buClr>
              <a:buSzPts val="1400"/>
              <a:buFont typeface="Manrope"/>
              <a:buNone/>
            </a:pPr>
            <a:r>
              <a:rPr b="0" i="0" lang="en-US" sz="1400" u="none" cap="none" strike="noStrike">
                <a:solidFill>
                  <a:srgbClr val="5B5570"/>
                </a:solidFill>
                <a:latin typeface="Manrope"/>
                <a:ea typeface="Manrope"/>
                <a:cs typeface="Manrope"/>
                <a:sym typeface="Manrope"/>
              </a:rPr>
              <a:t>É o que dá velocidade, reduz risco e destrava o ganho da nuvem já na primeira onda.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g3fb63e66dda_0_69"/>
          <p:cNvSpPr/>
          <p:nvPr/>
        </p:nvSpPr>
        <p:spPr>
          <a:xfrm>
            <a:off x="6178550" y="2895997"/>
            <a:ext cx="5315100" cy="2621700"/>
          </a:xfrm>
          <a:prstGeom prst="roundRect">
            <a:avLst>
              <a:gd fmla="val 6782" name="adj"/>
            </a:avLst>
          </a:prstGeom>
          <a:gradFill>
            <a:gsLst>
              <a:gs pos="0">
                <a:srgbClr val="3B2A8C"/>
              </a:gs>
              <a:gs pos="100000">
                <a:srgbClr val="6838E8"/>
              </a:gs>
            </a:gsLst>
            <a:lin ang="2700006" scaled="0"/>
          </a:gradFill>
          <a:ln>
            <a:noFill/>
          </a:ln>
          <a:effectLst>
            <a:outerShdw blurRad="635000" rotWithShape="0" algn="bl" dir="5400000" dist="215900">
              <a:srgbClr val="330896">
                <a:alpha val="30200"/>
              </a:srgbClr>
            </a:outerShdw>
          </a:effectLst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0" name="Google Shape;240;g3fb63e66dda_0_6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57950" y="320079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g3fb63e66dda_0_69"/>
          <p:cNvSpPr/>
          <p:nvPr/>
        </p:nvSpPr>
        <p:spPr>
          <a:xfrm>
            <a:off x="6457950" y="3823097"/>
            <a:ext cx="5231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1FF"/>
              </a:buClr>
              <a:buSzPts val="1300"/>
              <a:buFont typeface="Manrope"/>
              <a:buNone/>
            </a:pPr>
            <a:r>
              <a:rPr b="1" i="0" lang="en-US" sz="1300" u="none" cap="none" strike="noStrike">
                <a:solidFill>
                  <a:srgbClr val="E8E1FF"/>
                </a:solidFill>
                <a:latin typeface="Manrope"/>
                <a:ea typeface="Manrope"/>
                <a:cs typeface="Manrope"/>
                <a:sym typeface="Manrope"/>
              </a:rPr>
              <a:t>MODERNIZAÇÃO NO CAMINHO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g3fb63e66dda_0_69"/>
          <p:cNvSpPr/>
          <p:nvPr/>
        </p:nvSpPr>
        <p:spPr>
          <a:xfrm>
            <a:off x="6457950" y="4216797"/>
            <a:ext cx="5231700" cy="3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78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Manrope"/>
              <a:buNone/>
            </a:pPr>
            <a:r>
              <a:rPr b="1" i="0" lang="en-US" sz="2300" u="none" cap="none" strike="noStrike">
                <a:solidFill>
                  <a:srgbClr val="A4DF64"/>
                </a:solidFill>
                <a:latin typeface="Manrope"/>
                <a:ea typeface="Manrope"/>
                <a:cs typeface="Manrope"/>
                <a:sym typeface="Manrope"/>
              </a:rPr>
              <a:t>Meses viram dias</a:t>
            </a:r>
            <a:endParaRPr b="0" i="0" sz="2300" u="none" cap="none" strike="noStrike">
              <a:solidFill>
                <a:srgbClr val="A4DF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g3fb63e66dda_0_69"/>
          <p:cNvSpPr/>
          <p:nvPr/>
        </p:nvSpPr>
        <p:spPr>
          <a:xfrm>
            <a:off x="6457950" y="4697313"/>
            <a:ext cx="4898700" cy="5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06842"/>
              </a:lnSpc>
              <a:spcBef>
                <a:spcPts val="0"/>
              </a:spcBef>
              <a:spcAft>
                <a:spcPts val="0"/>
              </a:spcAft>
              <a:buClr>
                <a:srgbClr val="EBE4FF"/>
              </a:buClr>
              <a:buSzPts val="1400"/>
              <a:buFont typeface="Manrope"/>
              <a:buNone/>
            </a:pPr>
            <a:r>
              <a:rPr b="0" i="0" lang="en-US" sz="1400" u="none" cap="none" strike="noStrike">
                <a:solidFill>
                  <a:srgbClr val="EBE4FF"/>
                </a:solidFill>
                <a:latin typeface="Manrope"/>
                <a:ea typeface="Manrope"/>
                <a:cs typeface="Manrope"/>
                <a:sym typeface="Manrope"/>
              </a:rPr>
              <a:t>Com Agentes de IA e o AWS Transform, modernizamos códigos durante a migração, sem onerar tempo.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g3fb63e66dda_0_69"/>
          <p:cNvSpPr/>
          <p:nvPr/>
        </p:nvSpPr>
        <p:spPr>
          <a:xfrm>
            <a:off x="698500" y="6267450"/>
            <a:ext cx="3060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18A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77718A"/>
                </a:solidFill>
                <a:latin typeface="Manrope"/>
                <a:ea typeface="Manrope"/>
                <a:cs typeface="Manrope"/>
                <a:sym typeface="Manrope"/>
              </a:rPr>
              <a:t>Dati | Migração e modernização na AWS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g3fb63e66dda_0_69"/>
          <p:cNvSpPr/>
          <p:nvPr/>
        </p:nvSpPr>
        <p:spPr>
          <a:xfrm>
            <a:off x="11326415" y="6267450"/>
            <a:ext cx="217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18A"/>
              </a:buClr>
              <a:buSzPts val="1200"/>
              <a:buFont typeface="Manrope"/>
              <a:buNone/>
            </a:pPr>
            <a:r>
              <a:rPr b="1" i="0" lang="en-US" sz="1200" u="none" cap="none" strike="noStrike">
                <a:solidFill>
                  <a:srgbClr val="77718A"/>
                </a:solidFill>
                <a:latin typeface="Manrope"/>
                <a:ea typeface="Manrope"/>
                <a:cs typeface="Manrope"/>
                <a:sym typeface="Manrope"/>
              </a:rPr>
              <a:t>10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fb63e66dda_0_9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3E3E3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g3fb63e66dda_0_91"/>
          <p:cNvSpPr/>
          <p:nvPr/>
        </p:nvSpPr>
        <p:spPr>
          <a:xfrm>
            <a:off x="698500" y="466725"/>
            <a:ext cx="10653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5CC6"/>
              </a:buClr>
              <a:buSzPts val="1200"/>
              <a:buFont typeface="Manrope"/>
              <a:buNone/>
            </a:pPr>
            <a:r>
              <a:rPr b="1" i="0" lang="en-US" sz="1200" u="none" cap="none" strike="noStrike">
                <a:solidFill>
                  <a:srgbClr val="8F65FE"/>
                </a:solidFill>
                <a:latin typeface="Manrope"/>
                <a:ea typeface="Manrope"/>
                <a:cs typeface="Manrope"/>
                <a:sym typeface="Manrope"/>
              </a:rPr>
              <a:t>CONCEITO</a:t>
            </a:r>
            <a:endParaRPr b="0" i="0" sz="1200" u="none" cap="none" strike="noStrike">
              <a:solidFill>
                <a:srgbClr val="8F65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3" name="Google Shape;253;g3fb63e66dda_0_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80031" y="444500"/>
            <a:ext cx="613468" cy="2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g3fb63e66dda_0_91"/>
          <p:cNvSpPr/>
          <p:nvPr/>
        </p:nvSpPr>
        <p:spPr>
          <a:xfrm>
            <a:off x="698500" y="1028700"/>
            <a:ext cx="9918900" cy="4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78776"/>
              </a:lnSpc>
              <a:spcBef>
                <a:spcPts val="0"/>
              </a:spcBef>
              <a:spcAft>
                <a:spcPts val="0"/>
              </a:spcAft>
              <a:buClr>
                <a:srgbClr val="1A0F3D"/>
              </a:buClr>
              <a:buSzPts val="3100"/>
              <a:buFont typeface="Manrope"/>
              <a:buNone/>
            </a:pPr>
            <a:r>
              <a:rPr b="1" i="0" lang="en-US" sz="3100" u="none" cap="none" strike="noStrike">
                <a:solidFill>
                  <a:srgbClr val="1A0F3D"/>
                </a:solidFill>
                <a:latin typeface="Manrope"/>
                <a:ea typeface="Manrope"/>
                <a:cs typeface="Manrope"/>
                <a:sym typeface="Manrope"/>
              </a:rPr>
              <a:t>Modernização do legado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g3fb63e66dda_0_91"/>
          <p:cNvSpPr/>
          <p:nvPr/>
        </p:nvSpPr>
        <p:spPr>
          <a:xfrm>
            <a:off x="698500" y="1555453"/>
            <a:ext cx="107571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01818"/>
              </a:lnSpc>
              <a:spcBef>
                <a:spcPts val="0"/>
              </a:spcBef>
              <a:spcAft>
                <a:spcPts val="0"/>
              </a:spcAft>
              <a:buClr>
                <a:srgbClr val="5B5570"/>
              </a:buClr>
              <a:buSzPts val="1600"/>
              <a:buFont typeface="Manrope"/>
              <a:buNone/>
            </a:pPr>
            <a:r>
              <a:rPr b="0" i="0" lang="en-US" sz="1600" u="none" cap="none" strike="noStrike">
                <a:solidFill>
                  <a:srgbClr val="5B5570"/>
                </a:solidFill>
                <a:latin typeface="Manrope"/>
                <a:ea typeface="Manrope"/>
                <a:cs typeface="Manrope"/>
                <a:sym typeface="Manrope"/>
              </a:rPr>
              <a:t>Modernizar é quando plataforma, código ou arquitetura mudam</a:t>
            </a:r>
            <a:r>
              <a:rPr lang="en-US" sz="1600">
                <a:solidFill>
                  <a:srgbClr val="5B5570"/>
                </a:solidFill>
                <a:latin typeface="Manrope"/>
                <a:ea typeface="Manrope"/>
                <a:cs typeface="Manrope"/>
                <a:sym typeface="Manrope"/>
              </a:rPr>
              <a:t>, </a:t>
            </a:r>
            <a:r>
              <a:rPr b="0" i="0" lang="en-US" sz="1600" u="none" cap="none" strike="noStrike">
                <a:solidFill>
                  <a:srgbClr val="5B5570"/>
                </a:solidFill>
                <a:latin typeface="Manrope"/>
                <a:ea typeface="Manrope"/>
                <a:cs typeface="Manrope"/>
                <a:sym typeface="Manrope"/>
              </a:rPr>
              <a:t> não apenas trocam o host.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g3fb63e66dda_0_91"/>
          <p:cNvSpPr/>
          <p:nvPr/>
        </p:nvSpPr>
        <p:spPr>
          <a:xfrm>
            <a:off x="698500" y="2461122"/>
            <a:ext cx="431700" cy="431700"/>
          </a:xfrm>
          <a:prstGeom prst="roundRect">
            <a:avLst>
              <a:gd fmla="val 20588" name="adj"/>
            </a:avLst>
          </a:prstGeom>
          <a:gradFill>
            <a:gsLst>
              <a:gs pos="0">
                <a:srgbClr val="6838E8"/>
              </a:gs>
              <a:gs pos="100000">
                <a:srgbClr val="3503BB"/>
              </a:gs>
            </a:gsLst>
            <a:path path="circle">
              <a:fillToRect b="50%" l="50%" r="50%" t="50%"/>
            </a:path>
            <a:tileRect/>
          </a:gradFill>
          <a:ln cap="flat" cmpd="sng" w="6350">
            <a:solidFill>
              <a:srgbClr val="8F65FE"/>
            </a:solidFill>
            <a:prstDash val="solid"/>
            <a:round/>
            <a:headEnd len="sm" w="sm" type="none"/>
            <a:tailEnd len="sm" w="sm" type="none"/>
          </a:ln>
          <a:effectLst>
            <a:outerShdw blurRad="355600" rotWithShape="0" algn="bl" dir="5400000" dist="114300">
              <a:schemeClr val="accent3">
                <a:alpha val="30200"/>
              </a:schemeClr>
            </a:outerShdw>
          </a:effectLst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7" name="Google Shape;257;g3fb63e66dda_0_9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0100" y="256272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g3fb63e66dda_0_91"/>
          <p:cNvSpPr/>
          <p:nvPr/>
        </p:nvSpPr>
        <p:spPr>
          <a:xfrm>
            <a:off x="698500" y="3019922"/>
            <a:ext cx="27591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73862"/>
              </a:lnSpc>
              <a:spcBef>
                <a:spcPts val="0"/>
              </a:spcBef>
              <a:spcAft>
                <a:spcPts val="0"/>
              </a:spcAft>
              <a:buClr>
                <a:srgbClr val="1A0F3D"/>
              </a:buClr>
              <a:buSzPts val="2100"/>
              <a:buFont typeface="Manrope"/>
              <a:buNone/>
            </a:pPr>
            <a:r>
              <a:rPr b="1" i="0" lang="en-US" sz="2100" u="none" cap="none" strike="noStrike">
                <a:solidFill>
                  <a:srgbClr val="1A0F3D"/>
                </a:solidFill>
                <a:latin typeface="Manrope"/>
                <a:ea typeface="Manrope"/>
                <a:cs typeface="Manrope"/>
                <a:sym typeface="Manrope"/>
              </a:rPr>
              <a:t>Replatform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g3fb63e66dda_0_91"/>
          <p:cNvSpPr/>
          <p:nvPr/>
        </p:nvSpPr>
        <p:spPr>
          <a:xfrm>
            <a:off x="698500" y="3418880"/>
            <a:ext cx="27591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5CC6"/>
              </a:buClr>
              <a:buSzPts val="1200"/>
              <a:buFont typeface="Manrope"/>
              <a:buNone/>
            </a:pPr>
            <a:r>
              <a:rPr b="1" i="0" lang="en-US" sz="1200" u="none" cap="none" strike="noStrike">
                <a:solidFill>
                  <a:srgbClr val="655CC6"/>
                </a:solidFill>
                <a:latin typeface="Manrope"/>
                <a:ea typeface="Manrope"/>
                <a:cs typeface="Manrope"/>
                <a:sym typeface="Manrope"/>
              </a:rPr>
              <a:t>MUDA A PLATAFORMA</a:t>
            </a:r>
            <a:endParaRPr b="0" i="0" sz="1200" u="none" cap="none" strike="noStrike">
              <a:solidFill>
                <a:srgbClr val="655C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g3fb63e66dda_0_91"/>
          <p:cNvSpPr/>
          <p:nvPr/>
        </p:nvSpPr>
        <p:spPr>
          <a:xfrm>
            <a:off x="698500" y="3755430"/>
            <a:ext cx="2583300" cy="7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01111"/>
              </a:lnSpc>
              <a:spcBef>
                <a:spcPts val="0"/>
              </a:spcBef>
              <a:spcAft>
                <a:spcPts val="0"/>
              </a:spcAft>
              <a:buClr>
                <a:srgbClr val="5B5570"/>
              </a:buClr>
              <a:buSzPts val="1300"/>
              <a:buFont typeface="Manrope"/>
              <a:buNone/>
            </a:pPr>
            <a:r>
              <a:rPr b="0" i="0" lang="en-US" sz="1300" u="none" cap="none" strike="noStrike">
                <a:solidFill>
                  <a:srgbClr val="5B5570"/>
                </a:solidFill>
                <a:latin typeface="Manrope"/>
                <a:ea typeface="Manrope"/>
                <a:cs typeface="Manrope"/>
                <a:sym typeface="Manrope"/>
              </a:rPr>
              <a:t>Banco vira serviço gerenciado, aplicação vira container. O código de negócio não muda.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g3fb63e66dda_0_91"/>
          <p:cNvSpPr/>
          <p:nvPr/>
        </p:nvSpPr>
        <p:spPr>
          <a:xfrm>
            <a:off x="3460750" y="2461122"/>
            <a:ext cx="6300" cy="2218500"/>
          </a:xfrm>
          <a:prstGeom prst="rect">
            <a:avLst/>
          </a:prstGeom>
          <a:solidFill>
            <a:srgbClr val="C9C4D8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fb63e66dda_0_91"/>
          <p:cNvSpPr/>
          <p:nvPr/>
        </p:nvSpPr>
        <p:spPr>
          <a:xfrm>
            <a:off x="3721100" y="2461122"/>
            <a:ext cx="431700" cy="431700"/>
          </a:xfrm>
          <a:prstGeom prst="roundRect">
            <a:avLst>
              <a:gd fmla="val 20588" name="adj"/>
            </a:avLst>
          </a:prstGeom>
          <a:gradFill>
            <a:gsLst>
              <a:gs pos="0">
                <a:srgbClr val="5EBAE8"/>
              </a:gs>
              <a:gs pos="100000">
                <a:srgbClr val="5EA0E0"/>
              </a:gs>
            </a:gsLst>
            <a:path path="circle">
              <a:fillToRect b="50%" l="50%" r="50%" t="50%"/>
            </a:path>
            <a:tileRect/>
          </a:gradFill>
          <a:ln cap="flat" cmpd="sng" w="6350">
            <a:solidFill>
              <a:srgbClr val="2BC3F5"/>
            </a:solidFill>
            <a:prstDash val="solid"/>
            <a:round/>
            <a:headEnd len="sm" w="sm" type="none"/>
            <a:tailEnd len="sm" w="sm" type="none"/>
          </a:ln>
          <a:effectLst>
            <a:outerShdw blurRad="355600" rotWithShape="0" algn="bl" dir="5400000" dist="114300">
              <a:schemeClr val="accent3">
                <a:alpha val="30200"/>
              </a:schemeClr>
            </a:outerShdw>
          </a:effectLst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3" name="Google Shape;263;g3fb63e66dda_0_9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22700" y="256272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g3fb63e66dda_0_91"/>
          <p:cNvSpPr/>
          <p:nvPr/>
        </p:nvSpPr>
        <p:spPr>
          <a:xfrm>
            <a:off x="3721100" y="3019922"/>
            <a:ext cx="24726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73862"/>
              </a:lnSpc>
              <a:spcBef>
                <a:spcPts val="0"/>
              </a:spcBef>
              <a:spcAft>
                <a:spcPts val="0"/>
              </a:spcAft>
              <a:buClr>
                <a:srgbClr val="1A0F3D"/>
              </a:buClr>
              <a:buSzPts val="2100"/>
              <a:buFont typeface="Manrope"/>
              <a:buNone/>
            </a:pPr>
            <a:r>
              <a:rPr b="1" i="0" lang="en-US" sz="2100" u="none" cap="none" strike="noStrike">
                <a:solidFill>
                  <a:srgbClr val="1A0F3D"/>
                </a:solidFill>
                <a:latin typeface="Manrope"/>
                <a:ea typeface="Manrope"/>
                <a:cs typeface="Manrope"/>
                <a:sym typeface="Manrope"/>
              </a:rPr>
              <a:t>Refactor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g3fb63e66dda_0_91"/>
          <p:cNvSpPr/>
          <p:nvPr/>
        </p:nvSpPr>
        <p:spPr>
          <a:xfrm>
            <a:off x="3721100" y="3418880"/>
            <a:ext cx="24726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5CC6"/>
              </a:buClr>
              <a:buSzPts val="1200"/>
              <a:buFont typeface="Manrope"/>
              <a:buNone/>
            </a:pPr>
            <a:r>
              <a:rPr b="1" i="0" lang="en-US" sz="1200" u="none" cap="none" strike="noStrike">
                <a:solidFill>
                  <a:srgbClr val="655CC6"/>
                </a:solidFill>
                <a:latin typeface="Manrope"/>
                <a:ea typeface="Manrope"/>
                <a:cs typeface="Manrope"/>
                <a:sym typeface="Manrope"/>
              </a:rPr>
              <a:t>MUDA O CÓDIGO</a:t>
            </a:r>
            <a:endParaRPr b="0" i="0" sz="1200" u="none" cap="none" strike="noStrike">
              <a:solidFill>
                <a:srgbClr val="655C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g3fb63e66dda_0_91"/>
          <p:cNvSpPr/>
          <p:nvPr/>
        </p:nvSpPr>
        <p:spPr>
          <a:xfrm>
            <a:off x="3721100" y="3755430"/>
            <a:ext cx="2315400" cy="9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01111"/>
              </a:lnSpc>
              <a:spcBef>
                <a:spcPts val="0"/>
              </a:spcBef>
              <a:spcAft>
                <a:spcPts val="0"/>
              </a:spcAft>
              <a:buClr>
                <a:srgbClr val="5B5570"/>
              </a:buClr>
              <a:buSzPts val="1300"/>
              <a:buFont typeface="Manrope"/>
              <a:buNone/>
            </a:pPr>
            <a:r>
              <a:rPr b="0" i="0" lang="en-US" sz="1300" u="none" cap="none" strike="noStrike">
                <a:solidFill>
                  <a:srgbClr val="5B5570"/>
                </a:solidFill>
                <a:latin typeface="Manrope"/>
                <a:ea typeface="Manrope"/>
                <a:cs typeface="Manrope"/>
                <a:sym typeface="Manrope"/>
              </a:rPr>
              <a:t>Sobe versão de linguagem e framework, sai do que está em fim de vida. É onde a IA mais acelera.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g3fb63e66dda_0_91"/>
          <p:cNvSpPr/>
          <p:nvPr/>
        </p:nvSpPr>
        <p:spPr>
          <a:xfrm>
            <a:off x="6223000" y="2461122"/>
            <a:ext cx="6300" cy="2218500"/>
          </a:xfrm>
          <a:prstGeom prst="rect">
            <a:avLst/>
          </a:prstGeom>
          <a:solidFill>
            <a:srgbClr val="C9C4D8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3fb63e66dda_0_91"/>
          <p:cNvSpPr/>
          <p:nvPr/>
        </p:nvSpPr>
        <p:spPr>
          <a:xfrm>
            <a:off x="6483350" y="2461122"/>
            <a:ext cx="431700" cy="431700"/>
          </a:xfrm>
          <a:prstGeom prst="roundRect">
            <a:avLst>
              <a:gd fmla="val 20588" name="adj"/>
            </a:avLst>
          </a:prstGeom>
          <a:gradFill>
            <a:gsLst>
              <a:gs pos="0">
                <a:srgbClr val="FAC030"/>
              </a:gs>
              <a:gs pos="100000">
                <a:srgbClr val="F3A02A"/>
              </a:gs>
            </a:gsLst>
            <a:path path="circle">
              <a:fillToRect b="50%" l="50%" r="50%" t="50%"/>
            </a:path>
            <a:tileRect/>
          </a:gradFill>
          <a:ln cap="flat" cmpd="sng" w="6350">
            <a:solidFill>
              <a:srgbClr val="FAC030"/>
            </a:solidFill>
            <a:prstDash val="solid"/>
            <a:round/>
            <a:headEnd len="sm" w="sm" type="none"/>
            <a:tailEnd len="sm" w="sm" type="none"/>
          </a:ln>
          <a:effectLst>
            <a:outerShdw blurRad="355600" rotWithShape="0" algn="bl" dir="5400000" dist="114300">
              <a:schemeClr val="accent3">
                <a:alpha val="30200"/>
              </a:schemeClr>
            </a:outerShdw>
          </a:effectLst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9" name="Google Shape;269;g3fb63e66dda_0_9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84950" y="256272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g3fb63e66dda_0_91"/>
          <p:cNvSpPr/>
          <p:nvPr/>
        </p:nvSpPr>
        <p:spPr>
          <a:xfrm>
            <a:off x="6483350" y="3019922"/>
            <a:ext cx="24726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73862"/>
              </a:lnSpc>
              <a:spcBef>
                <a:spcPts val="0"/>
              </a:spcBef>
              <a:spcAft>
                <a:spcPts val="0"/>
              </a:spcAft>
              <a:buClr>
                <a:srgbClr val="1A0F3D"/>
              </a:buClr>
              <a:buSzPts val="2100"/>
              <a:buFont typeface="Manrope"/>
              <a:buNone/>
            </a:pPr>
            <a:r>
              <a:rPr b="1" i="0" lang="en-US" sz="2100" u="none" cap="none" strike="noStrike">
                <a:solidFill>
                  <a:srgbClr val="1A0F3D"/>
                </a:solidFill>
                <a:latin typeface="Manrope"/>
                <a:ea typeface="Manrope"/>
                <a:cs typeface="Manrope"/>
                <a:sym typeface="Manrope"/>
              </a:rPr>
              <a:t>Rearchitect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g3fb63e66dda_0_91"/>
          <p:cNvSpPr/>
          <p:nvPr/>
        </p:nvSpPr>
        <p:spPr>
          <a:xfrm>
            <a:off x="6483350" y="3418880"/>
            <a:ext cx="24726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5CC6"/>
              </a:buClr>
              <a:buSzPts val="1200"/>
              <a:buFont typeface="Manrope"/>
              <a:buNone/>
            </a:pPr>
            <a:r>
              <a:rPr b="1" i="0" lang="en-US" sz="1200" u="none" cap="none" strike="noStrike">
                <a:solidFill>
                  <a:srgbClr val="655CC6"/>
                </a:solidFill>
                <a:latin typeface="Manrope"/>
                <a:ea typeface="Manrope"/>
                <a:cs typeface="Manrope"/>
                <a:sym typeface="Manrope"/>
              </a:rPr>
              <a:t>MUDA A ARQUITETURA</a:t>
            </a:r>
            <a:endParaRPr b="0" i="0" sz="1200" u="none" cap="none" strike="noStrike">
              <a:solidFill>
                <a:srgbClr val="655C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g3fb63e66dda_0_91"/>
          <p:cNvSpPr/>
          <p:nvPr/>
        </p:nvSpPr>
        <p:spPr>
          <a:xfrm>
            <a:off x="6483350" y="3755430"/>
            <a:ext cx="2315400" cy="7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01111"/>
              </a:lnSpc>
              <a:spcBef>
                <a:spcPts val="0"/>
              </a:spcBef>
              <a:spcAft>
                <a:spcPts val="0"/>
              </a:spcAft>
              <a:buClr>
                <a:srgbClr val="5B5570"/>
              </a:buClr>
              <a:buSzPts val="1300"/>
              <a:buFont typeface="Manrope"/>
              <a:buNone/>
            </a:pPr>
            <a:r>
              <a:rPr b="0" i="0" lang="en-US" sz="1300" u="none" cap="none" strike="noStrike">
                <a:solidFill>
                  <a:srgbClr val="5B5570"/>
                </a:solidFill>
                <a:latin typeface="Manrope"/>
                <a:ea typeface="Manrope"/>
                <a:cs typeface="Manrope"/>
                <a:sym typeface="Manrope"/>
              </a:rPr>
              <a:t>O monólito é quebrado em serviços, pedaço por pedaço, sem janela de parada.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g3fb63e66dda_0_91"/>
          <p:cNvSpPr/>
          <p:nvPr/>
        </p:nvSpPr>
        <p:spPr>
          <a:xfrm>
            <a:off x="8985250" y="2461122"/>
            <a:ext cx="6300" cy="2218500"/>
          </a:xfrm>
          <a:prstGeom prst="rect">
            <a:avLst/>
          </a:prstGeom>
          <a:solidFill>
            <a:srgbClr val="C9C4D8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3fb63e66dda_0_91"/>
          <p:cNvSpPr/>
          <p:nvPr/>
        </p:nvSpPr>
        <p:spPr>
          <a:xfrm>
            <a:off x="9245600" y="2461122"/>
            <a:ext cx="431700" cy="431700"/>
          </a:xfrm>
          <a:prstGeom prst="roundRect">
            <a:avLst>
              <a:gd fmla="val 20588" name="adj"/>
            </a:avLst>
          </a:prstGeom>
          <a:gradFill>
            <a:gsLst>
              <a:gs pos="0">
                <a:srgbClr val="A1DF6C"/>
              </a:gs>
              <a:gs pos="100000">
                <a:srgbClr val="A4DF64"/>
              </a:gs>
            </a:gsLst>
            <a:path path="circle">
              <a:fillToRect b="50%" l="50%" r="50%" t="50%"/>
            </a:path>
            <a:tileRect/>
          </a:gradFill>
          <a:ln cap="flat" cmpd="sng" w="6350">
            <a:solidFill>
              <a:srgbClr val="8ADF63"/>
            </a:solidFill>
            <a:prstDash val="solid"/>
            <a:round/>
            <a:headEnd len="sm" w="sm" type="none"/>
            <a:tailEnd len="sm" w="sm" type="none"/>
          </a:ln>
          <a:effectLst>
            <a:outerShdw blurRad="355600" rotWithShape="0" algn="bl" dir="5400000" dist="114300">
              <a:schemeClr val="accent3">
                <a:alpha val="30200"/>
              </a:schemeClr>
            </a:outerShdw>
          </a:effectLst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5" name="Google Shape;275;g3fb63e66dda_0_9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47200" y="256272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g3fb63e66dda_0_91"/>
          <p:cNvSpPr/>
          <p:nvPr/>
        </p:nvSpPr>
        <p:spPr>
          <a:xfrm>
            <a:off x="9245600" y="3019922"/>
            <a:ext cx="24726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73862"/>
              </a:lnSpc>
              <a:spcBef>
                <a:spcPts val="0"/>
              </a:spcBef>
              <a:spcAft>
                <a:spcPts val="0"/>
              </a:spcAft>
              <a:buClr>
                <a:srgbClr val="1A0F3D"/>
              </a:buClr>
              <a:buSzPts val="2100"/>
              <a:buFont typeface="Manrope"/>
              <a:buNone/>
            </a:pPr>
            <a:r>
              <a:rPr b="1" i="0" lang="en-US" sz="2100" u="none" cap="none" strike="noStrike">
                <a:solidFill>
                  <a:srgbClr val="1A0F3D"/>
                </a:solidFill>
                <a:latin typeface="Manrope"/>
                <a:ea typeface="Manrope"/>
                <a:cs typeface="Manrope"/>
                <a:sym typeface="Manrope"/>
              </a:rPr>
              <a:t>Replace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g3fb63e66dda_0_91"/>
          <p:cNvSpPr/>
          <p:nvPr/>
        </p:nvSpPr>
        <p:spPr>
          <a:xfrm>
            <a:off x="9245600" y="3418880"/>
            <a:ext cx="24726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5CC6"/>
              </a:buClr>
              <a:buSzPts val="1200"/>
              <a:buFont typeface="Manrope"/>
              <a:buNone/>
            </a:pPr>
            <a:r>
              <a:rPr b="1" i="0" lang="en-US" sz="1200" u="none" cap="none" strike="noStrike">
                <a:solidFill>
                  <a:srgbClr val="655CC6"/>
                </a:solidFill>
                <a:latin typeface="Manrope"/>
                <a:ea typeface="Manrope"/>
                <a:cs typeface="Manrope"/>
                <a:sym typeface="Manrope"/>
              </a:rPr>
              <a:t>TROCA A SOLUÇÃO</a:t>
            </a:r>
            <a:endParaRPr b="0" i="0" sz="1200" u="none" cap="none" strike="noStrike">
              <a:solidFill>
                <a:srgbClr val="655C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g3fb63e66dda_0_91"/>
          <p:cNvSpPr/>
          <p:nvPr/>
        </p:nvSpPr>
        <p:spPr>
          <a:xfrm>
            <a:off x="9245600" y="3755430"/>
            <a:ext cx="23154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01111"/>
              </a:lnSpc>
              <a:spcBef>
                <a:spcPts val="0"/>
              </a:spcBef>
              <a:spcAft>
                <a:spcPts val="0"/>
              </a:spcAft>
              <a:buClr>
                <a:srgbClr val="5B5570"/>
              </a:buClr>
              <a:buSzPts val="1300"/>
              <a:buFont typeface="Manrope"/>
              <a:buNone/>
            </a:pPr>
            <a:r>
              <a:rPr b="0" i="0" lang="en-US" sz="1300" u="none" cap="none" strike="noStrike">
                <a:solidFill>
                  <a:srgbClr val="5B5570"/>
                </a:solidFill>
                <a:latin typeface="Manrope"/>
                <a:ea typeface="Manrope"/>
                <a:cs typeface="Manrope"/>
                <a:sym typeface="Manrope"/>
              </a:rPr>
              <a:t>Sai o software próprio, entra SaaS ou produto pronto.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g3fb63e66dda_0_91"/>
          <p:cNvSpPr/>
          <p:nvPr/>
        </p:nvSpPr>
        <p:spPr>
          <a:xfrm>
            <a:off x="698500" y="5300960"/>
            <a:ext cx="118746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01818"/>
              </a:lnSpc>
              <a:spcBef>
                <a:spcPts val="0"/>
              </a:spcBef>
              <a:spcAft>
                <a:spcPts val="0"/>
              </a:spcAft>
              <a:buClr>
                <a:srgbClr val="5B5570"/>
              </a:buClr>
              <a:buSzPts val="1600"/>
              <a:buFont typeface="Manrope"/>
              <a:buNone/>
            </a:pPr>
            <a:r>
              <a:rPr b="0" i="0" lang="en-US" sz="1600" u="none" cap="none" strike="noStrike">
                <a:solidFill>
                  <a:srgbClr val="5B5570"/>
                </a:solidFill>
                <a:latin typeface="Manrope"/>
                <a:ea typeface="Manrope"/>
                <a:cs typeface="Manrope"/>
                <a:sym typeface="Manrope"/>
              </a:rPr>
              <a:t>O que antes levava meses, hoje é possível ser feito em </a:t>
            </a:r>
            <a:r>
              <a:rPr b="1" i="0" lang="en-US" sz="1600" u="none" cap="none" strike="noStrike">
                <a:solidFill>
                  <a:srgbClr val="8F65FE"/>
                </a:solidFill>
                <a:latin typeface="Manrope"/>
                <a:ea typeface="Manrope"/>
                <a:cs typeface="Manrope"/>
                <a:sym typeface="Manrope"/>
              </a:rPr>
              <a:t>dias</a:t>
            </a:r>
            <a:r>
              <a:rPr b="1" i="0" lang="en-US" sz="1600" u="none" cap="none" strike="noStrike">
                <a:solidFill>
                  <a:srgbClr val="3503BB"/>
                </a:solidFill>
                <a:latin typeface="Manrope"/>
                <a:ea typeface="Manrope"/>
                <a:cs typeface="Manrope"/>
                <a:sym typeface="Manrope"/>
              </a:rPr>
              <a:t> </a:t>
            </a:r>
            <a:r>
              <a:rPr b="0" i="0" lang="en-US" sz="1600" u="none" cap="none" strike="noStrike">
                <a:solidFill>
                  <a:srgbClr val="5B5570"/>
                </a:solidFill>
                <a:latin typeface="Manrope"/>
                <a:ea typeface="Manrope"/>
                <a:cs typeface="Manrope"/>
                <a:sym typeface="Manrope"/>
              </a:rPr>
              <a:t>com Agentes de IA.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g3fb63e66dda_0_91"/>
          <p:cNvSpPr/>
          <p:nvPr/>
        </p:nvSpPr>
        <p:spPr>
          <a:xfrm>
            <a:off x="698500" y="6267450"/>
            <a:ext cx="3060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18A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77718A"/>
                </a:solidFill>
                <a:latin typeface="Manrope"/>
                <a:ea typeface="Manrope"/>
                <a:cs typeface="Manrope"/>
                <a:sym typeface="Manrope"/>
              </a:rPr>
              <a:t>Dati | Migração e modernização na AWS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g3fb63e66dda_0_91"/>
          <p:cNvSpPr/>
          <p:nvPr/>
        </p:nvSpPr>
        <p:spPr>
          <a:xfrm>
            <a:off x="11359951" y="6267450"/>
            <a:ext cx="1845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18A"/>
              </a:buClr>
              <a:buSzPts val="1200"/>
              <a:buFont typeface="Manrope"/>
              <a:buNone/>
            </a:pPr>
            <a:r>
              <a:rPr b="1" i="0" lang="en-US" sz="1200" u="none" cap="none" strike="noStrike">
                <a:solidFill>
                  <a:srgbClr val="77718A"/>
                </a:solidFill>
                <a:latin typeface="Manrope"/>
                <a:ea typeface="Manrope"/>
                <a:cs typeface="Manrope"/>
                <a:sym typeface="Manrope"/>
              </a:rPr>
              <a:t>11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fb63e66dda_0_126"/>
          <p:cNvSpPr/>
          <p:nvPr/>
        </p:nvSpPr>
        <p:spPr>
          <a:xfrm>
            <a:off x="698500" y="2601913"/>
            <a:ext cx="74043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7DFF"/>
              </a:buClr>
              <a:buSzPts val="1200"/>
              <a:buFont typeface="Manrope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A ACELERAÇÃO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g3fb63e66dda_0_126"/>
          <p:cNvSpPr/>
          <p:nvPr/>
        </p:nvSpPr>
        <p:spPr>
          <a:xfrm>
            <a:off x="698500" y="3014663"/>
            <a:ext cx="6933000" cy="12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763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700"/>
              <a:buFont typeface="Manrope"/>
              <a:buNone/>
            </a:pPr>
            <a:r>
              <a:rPr b="1" i="0" lang="en-US" sz="47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Onde a Dati encurta o caminho</a:t>
            </a:r>
            <a:endParaRPr b="0" i="0" sz="4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g3fb63e66dda_0_126"/>
          <p:cNvSpPr/>
          <p:nvPr/>
        </p:nvSpPr>
        <p:spPr>
          <a:xfrm>
            <a:off x="698500" y="6267450"/>
            <a:ext cx="3060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891AB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Dati | Migração e modernização na AWS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g3fb63e66dda_0_126"/>
          <p:cNvSpPr/>
          <p:nvPr/>
        </p:nvSpPr>
        <p:spPr>
          <a:xfrm>
            <a:off x="11335941" y="6267450"/>
            <a:ext cx="2085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891AB"/>
              </a:buClr>
              <a:buSzPts val="1200"/>
              <a:buFont typeface="Manrope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12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fb63e66dda_0_1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3E3E3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g3fb63e66dda_0_134"/>
          <p:cNvSpPr/>
          <p:nvPr/>
        </p:nvSpPr>
        <p:spPr>
          <a:xfrm>
            <a:off x="698500" y="466725"/>
            <a:ext cx="7263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5CC6"/>
              </a:buClr>
              <a:buSzPts val="1200"/>
              <a:buFont typeface="Manrope"/>
              <a:buNone/>
            </a:pPr>
            <a:r>
              <a:rPr b="1" i="0" lang="en-US" sz="1200" u="none" cap="none" strike="noStrike">
                <a:solidFill>
                  <a:srgbClr val="8F65FE"/>
                </a:solidFill>
                <a:latin typeface="Manrope"/>
                <a:ea typeface="Manrope"/>
                <a:cs typeface="Manrope"/>
                <a:sym typeface="Manrope"/>
              </a:rPr>
              <a:t>ATIVOS</a:t>
            </a:r>
            <a:endParaRPr b="0" i="0" sz="1200" u="none" cap="none" strike="noStrike">
              <a:solidFill>
                <a:srgbClr val="8F65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8" name="Google Shape;298;g3fb63e66dda_0_1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80031" y="444500"/>
            <a:ext cx="613468" cy="2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g3fb63e66dda_0_134"/>
          <p:cNvSpPr/>
          <p:nvPr/>
        </p:nvSpPr>
        <p:spPr>
          <a:xfrm>
            <a:off x="698500" y="1028700"/>
            <a:ext cx="9918900" cy="4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78776"/>
              </a:lnSpc>
              <a:spcBef>
                <a:spcPts val="0"/>
              </a:spcBef>
              <a:spcAft>
                <a:spcPts val="0"/>
              </a:spcAft>
              <a:buClr>
                <a:srgbClr val="1A0F3D"/>
              </a:buClr>
              <a:buSzPts val="3100"/>
              <a:buFont typeface="Manrope"/>
              <a:buNone/>
            </a:pPr>
            <a:r>
              <a:rPr b="1" i="0" lang="en-US" sz="3100" u="none" cap="none" strike="noStrike">
                <a:solidFill>
                  <a:srgbClr val="1A0F3D"/>
                </a:solidFill>
                <a:latin typeface="Manrope"/>
                <a:ea typeface="Manrope"/>
                <a:cs typeface="Manrope"/>
                <a:sym typeface="Manrope"/>
              </a:rPr>
              <a:t>A gente não começa do </a:t>
            </a:r>
            <a:r>
              <a:rPr b="1" i="0" lang="en-US" sz="3100" u="none" cap="none" strike="noStrike">
                <a:solidFill>
                  <a:srgbClr val="8F65FE"/>
                </a:solidFill>
                <a:latin typeface="Manrope"/>
                <a:ea typeface="Manrope"/>
                <a:cs typeface="Manrope"/>
                <a:sym typeface="Manrope"/>
              </a:rPr>
              <a:t>zero</a:t>
            </a:r>
            <a:r>
              <a:rPr b="1" i="0" lang="en-US" sz="3100" u="none" cap="none" strike="noStrike">
                <a:solidFill>
                  <a:srgbClr val="1A0F3D"/>
                </a:solidFill>
                <a:latin typeface="Manrope"/>
                <a:ea typeface="Manrope"/>
                <a:cs typeface="Manrope"/>
                <a:sym typeface="Manrope"/>
              </a:rPr>
              <a:t> em cada projeto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g3fb63e66dda_0_134"/>
          <p:cNvSpPr/>
          <p:nvPr/>
        </p:nvSpPr>
        <p:spPr>
          <a:xfrm>
            <a:off x="698500" y="1555453"/>
            <a:ext cx="118746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01818"/>
              </a:lnSpc>
              <a:spcBef>
                <a:spcPts val="0"/>
              </a:spcBef>
              <a:spcAft>
                <a:spcPts val="0"/>
              </a:spcAft>
              <a:buClr>
                <a:srgbClr val="5B5570"/>
              </a:buClr>
              <a:buSzPts val="1600"/>
              <a:buFont typeface="Manrope"/>
              <a:buNone/>
            </a:pPr>
            <a:r>
              <a:rPr b="0" i="0" lang="en-US" sz="1600" u="none" cap="none" strike="noStrike">
                <a:solidFill>
                  <a:srgbClr val="5B5570"/>
                </a:solidFill>
                <a:latin typeface="Manrope"/>
                <a:ea typeface="Manrope"/>
                <a:cs typeface="Manrope"/>
                <a:sym typeface="Manrope"/>
              </a:rPr>
              <a:t>Cada projeto entregue vira ativo para o próximo.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g3fb63e66dda_0_134"/>
          <p:cNvSpPr/>
          <p:nvPr/>
        </p:nvSpPr>
        <p:spPr>
          <a:xfrm>
            <a:off x="748304" y="2320612"/>
            <a:ext cx="1890000" cy="20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55CC6"/>
              </a:buClr>
              <a:buSzPts val="1300"/>
              <a:buFont typeface="Manrope"/>
              <a:buNone/>
            </a:pPr>
            <a:r>
              <a:rPr b="1" lang="en-US" sz="13300">
                <a:solidFill>
                  <a:srgbClr val="CFC9E6"/>
                </a:solidFill>
                <a:latin typeface="Manrope"/>
                <a:ea typeface="Manrope"/>
                <a:cs typeface="Manrope"/>
                <a:sym typeface="Manrope"/>
              </a:rPr>
              <a:t>01</a:t>
            </a:r>
            <a:endParaRPr b="0" i="0" sz="13300" u="none" cap="none" strike="noStrike">
              <a:solidFill>
                <a:srgbClr val="CFC9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g3fb63e66dda_0_134"/>
          <p:cNvSpPr/>
          <p:nvPr/>
        </p:nvSpPr>
        <p:spPr>
          <a:xfrm>
            <a:off x="698500" y="3543372"/>
            <a:ext cx="431700" cy="431700"/>
          </a:xfrm>
          <a:prstGeom prst="roundRect">
            <a:avLst>
              <a:gd fmla="val 20588" name="adj"/>
            </a:avLst>
          </a:prstGeom>
          <a:gradFill>
            <a:gsLst>
              <a:gs pos="0">
                <a:srgbClr val="6838E8"/>
              </a:gs>
              <a:gs pos="100000">
                <a:srgbClr val="3503BB"/>
              </a:gs>
            </a:gsLst>
            <a:path path="circle">
              <a:fillToRect b="50%" l="50%" r="50%" t="50%"/>
            </a:path>
            <a:tileRect/>
          </a:gradFill>
          <a:ln cap="flat" cmpd="sng" w="6350">
            <a:solidFill>
              <a:srgbClr val="8F65FE"/>
            </a:solidFill>
            <a:prstDash val="solid"/>
            <a:round/>
            <a:headEnd len="sm" w="sm" type="none"/>
            <a:tailEnd len="sm" w="sm" type="none"/>
          </a:ln>
          <a:effectLst>
            <a:outerShdw blurRad="355600" rotWithShape="0" algn="bl" dir="5400000" dist="114300">
              <a:srgbClr val="240872">
                <a:alpha val="30200"/>
              </a:srgbClr>
            </a:outerShdw>
          </a:effectLst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g3fb63e66dda_0_134"/>
          <p:cNvSpPr/>
          <p:nvPr/>
        </p:nvSpPr>
        <p:spPr>
          <a:xfrm>
            <a:off x="3747000" y="2313544"/>
            <a:ext cx="2315400" cy="20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55CC6"/>
              </a:buClr>
              <a:buSzPts val="1300"/>
              <a:buFont typeface="Manrope"/>
              <a:buNone/>
            </a:pPr>
            <a:r>
              <a:rPr b="1" lang="en-US" sz="13300">
                <a:solidFill>
                  <a:srgbClr val="CFC9E6"/>
                </a:solidFill>
                <a:latin typeface="Manrope"/>
                <a:ea typeface="Manrope"/>
                <a:cs typeface="Manrope"/>
                <a:sym typeface="Manrope"/>
              </a:rPr>
              <a:t>02</a:t>
            </a:r>
            <a:endParaRPr b="0" i="0" sz="13300" u="none" cap="none" strike="noStrike">
              <a:solidFill>
                <a:srgbClr val="CFC9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g3fb63e66dda_0_134"/>
          <p:cNvSpPr/>
          <p:nvPr/>
        </p:nvSpPr>
        <p:spPr>
          <a:xfrm>
            <a:off x="6514983" y="2326011"/>
            <a:ext cx="2315400" cy="20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55CC6"/>
              </a:buClr>
              <a:buSzPts val="1300"/>
              <a:buFont typeface="Manrope"/>
              <a:buNone/>
            </a:pPr>
            <a:r>
              <a:rPr b="1" lang="en-US" sz="13300">
                <a:solidFill>
                  <a:srgbClr val="CFC9E6"/>
                </a:solidFill>
                <a:latin typeface="Manrope"/>
                <a:ea typeface="Manrope"/>
                <a:cs typeface="Manrope"/>
                <a:sym typeface="Manrope"/>
              </a:rPr>
              <a:t>03</a:t>
            </a:r>
            <a:endParaRPr b="1" i="0" sz="13300" u="none" cap="none" strike="noStrike">
              <a:solidFill>
                <a:srgbClr val="CFC9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g3fb63e66dda_0_134"/>
          <p:cNvSpPr/>
          <p:nvPr/>
        </p:nvSpPr>
        <p:spPr>
          <a:xfrm>
            <a:off x="9272283" y="2352561"/>
            <a:ext cx="2315400" cy="20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55CC6"/>
              </a:buClr>
              <a:buSzPts val="1300"/>
              <a:buFont typeface="Manrope"/>
              <a:buNone/>
            </a:pPr>
            <a:r>
              <a:rPr b="1" lang="en-US" sz="13300">
                <a:solidFill>
                  <a:srgbClr val="CFC9E6"/>
                </a:solidFill>
                <a:latin typeface="Manrope"/>
                <a:ea typeface="Manrope"/>
                <a:cs typeface="Manrope"/>
                <a:sym typeface="Manrope"/>
              </a:rPr>
              <a:t>04</a:t>
            </a:r>
            <a:endParaRPr b="1" i="0" sz="13300" u="none" cap="none" strike="noStrike">
              <a:solidFill>
                <a:srgbClr val="CFC9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6" name="Google Shape;306;g3fb63e66dda_0_1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0100" y="364497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g3fb63e66dda_0_134"/>
          <p:cNvSpPr/>
          <p:nvPr/>
        </p:nvSpPr>
        <p:spPr>
          <a:xfrm>
            <a:off x="698500" y="4483172"/>
            <a:ext cx="2759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80816"/>
              </a:lnSpc>
              <a:spcBef>
                <a:spcPts val="0"/>
              </a:spcBef>
              <a:spcAft>
                <a:spcPts val="0"/>
              </a:spcAft>
              <a:buClr>
                <a:srgbClr val="1A0F3D"/>
              </a:buClr>
              <a:buSzPts val="1800"/>
              <a:buFont typeface="Manrope"/>
              <a:buNone/>
            </a:pPr>
            <a:r>
              <a:rPr b="1" i="0" lang="en-US" sz="1800" u="none" cap="none" strike="noStrike">
                <a:solidFill>
                  <a:srgbClr val="1A0F3D"/>
                </a:solidFill>
                <a:latin typeface="Manrope"/>
                <a:ea typeface="Manrope"/>
                <a:cs typeface="Manrope"/>
                <a:sym typeface="Manrope"/>
              </a:rPr>
              <a:t>Discovery otimizado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g3fb63e66dda_0_134"/>
          <p:cNvSpPr/>
          <p:nvPr/>
        </p:nvSpPr>
        <p:spPr>
          <a:xfrm>
            <a:off x="698500" y="4874292"/>
            <a:ext cx="25833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01111"/>
              </a:lnSpc>
              <a:spcBef>
                <a:spcPts val="0"/>
              </a:spcBef>
              <a:spcAft>
                <a:spcPts val="0"/>
              </a:spcAft>
              <a:buClr>
                <a:srgbClr val="5B5570"/>
              </a:buClr>
              <a:buSzPts val="1300"/>
              <a:buFont typeface="Manrope"/>
              <a:buNone/>
            </a:pPr>
            <a:r>
              <a:rPr b="0" i="0" lang="en-US" sz="1300" u="none" cap="none" strike="noStrike">
                <a:solidFill>
                  <a:srgbClr val="5B5570"/>
                </a:solidFill>
                <a:latin typeface="Manrope"/>
                <a:ea typeface="Manrope"/>
                <a:cs typeface="Manrope"/>
                <a:sym typeface="Manrope"/>
              </a:rPr>
              <a:t>inventário e dependências já conhecidas, enriquecidas com 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g3fb63e66dda_0_134"/>
          <p:cNvSpPr/>
          <p:nvPr/>
        </p:nvSpPr>
        <p:spPr>
          <a:xfrm>
            <a:off x="3424464" y="2645291"/>
            <a:ext cx="6300" cy="2947500"/>
          </a:xfrm>
          <a:prstGeom prst="rect">
            <a:avLst/>
          </a:prstGeom>
          <a:solidFill>
            <a:srgbClr val="C9C4D8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g3fb63e66dda_0_134"/>
          <p:cNvSpPr/>
          <p:nvPr/>
        </p:nvSpPr>
        <p:spPr>
          <a:xfrm>
            <a:off x="3721100" y="3543372"/>
            <a:ext cx="431700" cy="431700"/>
          </a:xfrm>
          <a:prstGeom prst="roundRect">
            <a:avLst>
              <a:gd fmla="val 20588" name="adj"/>
            </a:avLst>
          </a:prstGeom>
          <a:gradFill>
            <a:gsLst>
              <a:gs pos="0">
                <a:srgbClr val="6838E8"/>
              </a:gs>
              <a:gs pos="100000">
                <a:srgbClr val="3503BB"/>
              </a:gs>
            </a:gsLst>
            <a:path path="circle">
              <a:fillToRect b="50%" l="50%" r="50%" t="50%"/>
            </a:path>
            <a:tileRect/>
          </a:gradFill>
          <a:ln cap="flat" cmpd="sng" w="6350">
            <a:solidFill>
              <a:srgbClr val="8F65FE"/>
            </a:solidFill>
            <a:prstDash val="solid"/>
            <a:round/>
            <a:headEnd len="sm" w="sm" type="none"/>
            <a:tailEnd len="sm" w="sm" type="none"/>
          </a:ln>
          <a:effectLst>
            <a:outerShdw blurRad="355600" rotWithShape="0" algn="bl" dir="5400000" dist="114300">
              <a:srgbClr val="240872">
                <a:alpha val="30200"/>
              </a:srgbClr>
            </a:outerShdw>
          </a:effectLst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1" name="Google Shape;311;g3fb63e66dda_0_1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22700" y="364497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g3fb63e66dda_0_134"/>
          <p:cNvSpPr/>
          <p:nvPr/>
        </p:nvSpPr>
        <p:spPr>
          <a:xfrm>
            <a:off x="3721100" y="4483172"/>
            <a:ext cx="2472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80816"/>
              </a:lnSpc>
              <a:spcBef>
                <a:spcPts val="0"/>
              </a:spcBef>
              <a:spcAft>
                <a:spcPts val="0"/>
              </a:spcAft>
              <a:buClr>
                <a:srgbClr val="1A0F3D"/>
              </a:buClr>
              <a:buSzPts val="1800"/>
              <a:buFont typeface="Manrope"/>
              <a:buNone/>
            </a:pPr>
            <a:r>
              <a:rPr b="1" i="0" lang="en-US" sz="1800" u="none" cap="none" strike="noStrike">
                <a:solidFill>
                  <a:srgbClr val="1A0F3D"/>
                </a:solidFill>
                <a:latin typeface="Manrope"/>
                <a:ea typeface="Manrope"/>
                <a:cs typeface="Manrope"/>
                <a:sym typeface="Manrope"/>
              </a:rPr>
              <a:t>Landing zone pronta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g3fb63e66dda_0_134"/>
          <p:cNvSpPr/>
          <p:nvPr/>
        </p:nvSpPr>
        <p:spPr>
          <a:xfrm>
            <a:off x="3721100" y="4874292"/>
            <a:ext cx="23154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01111"/>
              </a:lnSpc>
              <a:spcBef>
                <a:spcPts val="0"/>
              </a:spcBef>
              <a:spcAft>
                <a:spcPts val="0"/>
              </a:spcAft>
              <a:buClr>
                <a:srgbClr val="5B5570"/>
              </a:buClr>
              <a:buSzPts val="1300"/>
              <a:buFont typeface="Manrope"/>
              <a:buNone/>
            </a:pPr>
            <a:r>
              <a:rPr b="0" i="0" lang="en-US" sz="1300" u="none" cap="none" strike="noStrike">
                <a:solidFill>
                  <a:srgbClr val="5B5570"/>
                </a:solidFill>
                <a:latin typeface="Manrope"/>
                <a:ea typeface="Manrope"/>
                <a:cs typeface="Manrope"/>
                <a:sym typeface="Manrope"/>
              </a:rPr>
              <a:t>fundação de rede e estrutura de contas prontas em IaC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g3fb63e66dda_0_134"/>
          <p:cNvSpPr/>
          <p:nvPr/>
        </p:nvSpPr>
        <p:spPr>
          <a:xfrm>
            <a:off x="6223000" y="2645291"/>
            <a:ext cx="6300" cy="2947500"/>
          </a:xfrm>
          <a:prstGeom prst="rect">
            <a:avLst/>
          </a:prstGeom>
          <a:solidFill>
            <a:srgbClr val="C9C4D8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g3fb63e66dda_0_134"/>
          <p:cNvSpPr/>
          <p:nvPr/>
        </p:nvSpPr>
        <p:spPr>
          <a:xfrm>
            <a:off x="6483350" y="3543372"/>
            <a:ext cx="431700" cy="431700"/>
          </a:xfrm>
          <a:prstGeom prst="roundRect">
            <a:avLst>
              <a:gd fmla="val 20588" name="adj"/>
            </a:avLst>
          </a:prstGeom>
          <a:gradFill>
            <a:gsLst>
              <a:gs pos="0">
                <a:srgbClr val="6838E8"/>
              </a:gs>
              <a:gs pos="100000">
                <a:srgbClr val="3503BB"/>
              </a:gs>
            </a:gsLst>
            <a:path path="circle">
              <a:fillToRect b="50%" l="50%" r="50%" t="50%"/>
            </a:path>
            <a:tileRect/>
          </a:gradFill>
          <a:ln cap="flat" cmpd="sng" w="6350">
            <a:solidFill>
              <a:srgbClr val="8F65FE"/>
            </a:solidFill>
            <a:prstDash val="solid"/>
            <a:round/>
            <a:headEnd len="sm" w="sm" type="none"/>
            <a:tailEnd len="sm" w="sm" type="none"/>
          </a:ln>
          <a:effectLst>
            <a:outerShdw blurRad="355600" rotWithShape="0" algn="bl" dir="5400000" dist="114300">
              <a:srgbClr val="240872">
                <a:alpha val="30200"/>
              </a:srgbClr>
            </a:outerShdw>
          </a:effectLst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6" name="Google Shape;316;g3fb63e66dda_0_1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84950" y="364497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g3fb63e66dda_0_134"/>
          <p:cNvSpPr/>
          <p:nvPr/>
        </p:nvSpPr>
        <p:spPr>
          <a:xfrm>
            <a:off x="6483350" y="4483172"/>
            <a:ext cx="2472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80816"/>
              </a:lnSpc>
              <a:spcBef>
                <a:spcPts val="0"/>
              </a:spcBef>
              <a:spcAft>
                <a:spcPts val="0"/>
              </a:spcAft>
              <a:buClr>
                <a:srgbClr val="1A0F3D"/>
              </a:buClr>
              <a:buSzPts val="1800"/>
              <a:buFont typeface="Manrope"/>
              <a:buNone/>
            </a:pPr>
            <a:r>
              <a:rPr b="1" i="0" lang="en-US" sz="1800" u="none" cap="none" strike="noStrike">
                <a:solidFill>
                  <a:srgbClr val="1A0F3D"/>
                </a:solidFill>
                <a:latin typeface="Manrope"/>
                <a:ea typeface="Manrope"/>
                <a:cs typeface="Manrope"/>
                <a:sym typeface="Manrope"/>
              </a:rPr>
              <a:t>Esteiras de migração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g3fb63e66dda_0_134"/>
          <p:cNvSpPr/>
          <p:nvPr/>
        </p:nvSpPr>
        <p:spPr>
          <a:xfrm>
            <a:off x="6483350" y="4874292"/>
            <a:ext cx="2315400" cy="7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01111"/>
              </a:lnSpc>
              <a:spcBef>
                <a:spcPts val="0"/>
              </a:spcBef>
              <a:spcAft>
                <a:spcPts val="0"/>
              </a:spcAft>
              <a:buClr>
                <a:srgbClr val="5B5570"/>
              </a:buClr>
              <a:buSzPts val="1300"/>
              <a:buFont typeface="Manrope"/>
              <a:buNone/>
            </a:pPr>
            <a:r>
              <a:rPr b="0" i="0" lang="en-US" sz="1300" u="none" cap="none" strike="noStrike">
                <a:solidFill>
                  <a:srgbClr val="5B5570"/>
                </a:solidFill>
                <a:latin typeface="Manrope"/>
                <a:ea typeface="Manrope"/>
                <a:cs typeface="Manrope"/>
                <a:sym typeface="Manrope"/>
              </a:rPr>
              <a:t>pipelines prontos que otimizam o processo de migração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g3fb63e66dda_0_134"/>
          <p:cNvSpPr/>
          <p:nvPr/>
        </p:nvSpPr>
        <p:spPr>
          <a:xfrm>
            <a:off x="8985250" y="2645291"/>
            <a:ext cx="6300" cy="2947500"/>
          </a:xfrm>
          <a:prstGeom prst="rect">
            <a:avLst/>
          </a:prstGeom>
          <a:solidFill>
            <a:srgbClr val="C9C4D8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3fb63e66dda_0_134"/>
          <p:cNvSpPr/>
          <p:nvPr/>
        </p:nvSpPr>
        <p:spPr>
          <a:xfrm>
            <a:off x="9245600" y="3543372"/>
            <a:ext cx="431700" cy="431700"/>
          </a:xfrm>
          <a:prstGeom prst="roundRect">
            <a:avLst>
              <a:gd fmla="val 20588" name="adj"/>
            </a:avLst>
          </a:prstGeom>
          <a:gradFill>
            <a:gsLst>
              <a:gs pos="0">
                <a:srgbClr val="6838E8"/>
              </a:gs>
              <a:gs pos="100000">
                <a:srgbClr val="3503BB"/>
              </a:gs>
            </a:gsLst>
            <a:path path="circle">
              <a:fillToRect b="50%" l="50%" r="50%" t="50%"/>
            </a:path>
            <a:tileRect/>
          </a:gradFill>
          <a:ln cap="flat" cmpd="sng" w="6350">
            <a:solidFill>
              <a:srgbClr val="8F65FE"/>
            </a:solidFill>
            <a:prstDash val="solid"/>
            <a:round/>
            <a:headEnd len="sm" w="sm" type="none"/>
            <a:tailEnd len="sm" w="sm" type="none"/>
          </a:ln>
          <a:effectLst>
            <a:outerShdw blurRad="355600" rotWithShape="0" algn="bl" dir="5400000" dist="114300">
              <a:srgbClr val="240872">
                <a:alpha val="30200"/>
              </a:srgbClr>
            </a:outerShdw>
          </a:effectLst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1" name="Google Shape;321;g3fb63e66dda_0_1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47200" y="364497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g3fb63e66dda_0_134"/>
          <p:cNvSpPr/>
          <p:nvPr/>
        </p:nvSpPr>
        <p:spPr>
          <a:xfrm>
            <a:off x="9245600" y="4483172"/>
            <a:ext cx="2472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80816"/>
              </a:lnSpc>
              <a:spcBef>
                <a:spcPts val="0"/>
              </a:spcBef>
              <a:spcAft>
                <a:spcPts val="0"/>
              </a:spcAft>
              <a:buClr>
                <a:srgbClr val="1A0F3D"/>
              </a:buClr>
              <a:buSzPts val="1800"/>
              <a:buFont typeface="Manrope"/>
              <a:buNone/>
            </a:pPr>
            <a:r>
              <a:rPr b="1" i="0" lang="en-US" sz="1800" u="none" cap="none" strike="noStrike">
                <a:solidFill>
                  <a:srgbClr val="1A0F3D"/>
                </a:solidFill>
                <a:latin typeface="Manrope"/>
                <a:ea typeface="Manrope"/>
                <a:cs typeface="Manrope"/>
                <a:sym typeface="Manrope"/>
              </a:rPr>
              <a:t>Rotinas de FinOps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g3fb63e66dda_0_134"/>
          <p:cNvSpPr/>
          <p:nvPr/>
        </p:nvSpPr>
        <p:spPr>
          <a:xfrm>
            <a:off x="9245600" y="4874292"/>
            <a:ext cx="2315400" cy="7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01111"/>
              </a:lnSpc>
              <a:spcBef>
                <a:spcPts val="0"/>
              </a:spcBef>
              <a:spcAft>
                <a:spcPts val="0"/>
              </a:spcAft>
              <a:buClr>
                <a:srgbClr val="5B5570"/>
              </a:buClr>
              <a:buSzPts val="1300"/>
              <a:buFont typeface="Manrope"/>
              <a:buNone/>
            </a:pPr>
            <a:r>
              <a:rPr b="0" i="0" lang="en-US" sz="1300" u="none" cap="none" strike="noStrike">
                <a:solidFill>
                  <a:srgbClr val="5B5570"/>
                </a:solidFill>
                <a:latin typeface="Manrope"/>
                <a:ea typeface="Manrope"/>
                <a:cs typeface="Manrope"/>
                <a:sym typeface="Manrope"/>
              </a:rPr>
              <a:t>etiqueta, redimensionamento e corte de recursos inutilizados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g3fb63e66dda_0_134"/>
          <p:cNvSpPr/>
          <p:nvPr/>
        </p:nvSpPr>
        <p:spPr>
          <a:xfrm>
            <a:off x="698500" y="6267450"/>
            <a:ext cx="3060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18A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77718A"/>
                </a:solidFill>
                <a:latin typeface="Manrope"/>
                <a:ea typeface="Manrope"/>
                <a:cs typeface="Manrope"/>
                <a:sym typeface="Manrope"/>
              </a:rPr>
              <a:t>Dati | Migração e modernização na AWS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g3fb63e66dda_0_134"/>
          <p:cNvSpPr/>
          <p:nvPr/>
        </p:nvSpPr>
        <p:spPr>
          <a:xfrm>
            <a:off x="11338123" y="6267450"/>
            <a:ext cx="2061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18A"/>
              </a:buClr>
              <a:buSzPts val="1200"/>
              <a:buFont typeface="Manrope"/>
              <a:buNone/>
            </a:pPr>
            <a:r>
              <a:rPr b="1" i="0" lang="en-US" sz="1200" u="none" cap="none" strike="noStrike">
                <a:solidFill>
                  <a:srgbClr val="77718A"/>
                </a:solidFill>
                <a:latin typeface="Manrope"/>
                <a:ea typeface="Manrope"/>
                <a:cs typeface="Manrope"/>
                <a:sym typeface="Manrope"/>
              </a:rPr>
              <a:t>13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fb63e66dda_0_168"/>
          <p:cNvSpPr/>
          <p:nvPr/>
        </p:nvSpPr>
        <p:spPr>
          <a:xfrm>
            <a:off x="698500" y="1894185"/>
            <a:ext cx="118746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7DFF"/>
              </a:buClr>
              <a:buSzPts val="1200"/>
              <a:buFont typeface="Manrope"/>
              <a:buNone/>
            </a:pPr>
            <a:r>
              <a:rPr b="1" i="0" lang="en-US" sz="1200" u="none" cap="none" strike="noStrike">
                <a:solidFill>
                  <a:srgbClr val="5EBAE8"/>
                </a:solidFill>
                <a:latin typeface="Manrope"/>
                <a:ea typeface="Manrope"/>
                <a:cs typeface="Manrope"/>
                <a:sym typeface="Manrope"/>
              </a:rPr>
              <a:t>OU SEJA</a:t>
            </a:r>
            <a:endParaRPr b="0" i="0" sz="1200" u="none" cap="none" strike="noStrike">
              <a:solidFill>
                <a:srgbClr val="5EBA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g3fb63e66dda_0_168"/>
          <p:cNvSpPr/>
          <p:nvPr/>
        </p:nvSpPr>
        <p:spPr>
          <a:xfrm>
            <a:off x="698500" y="2357733"/>
            <a:ext cx="8269200" cy="26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Manrope"/>
              <a:buNone/>
            </a:pPr>
            <a:r>
              <a:rPr i="0" lang="en-US" sz="38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Quando você contrata a Dati, </a:t>
            </a:r>
            <a:endParaRPr i="0" sz="3800" u="none" cap="none" strike="noStrike">
              <a:solidFill>
                <a:srgbClr val="FFFFFF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Manrope"/>
              <a:buNone/>
            </a:pPr>
            <a:r>
              <a:rPr i="0" lang="en-US" sz="38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você ganha </a:t>
            </a:r>
            <a:r>
              <a:rPr b="1" i="0" lang="en-US" sz="3800" u="none" cap="none" strike="noStrik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anos de experiência</a:t>
            </a:r>
            <a:r>
              <a:rPr i="0" lang="en-US" sz="3800" u="none" cap="none" strike="noStrike">
                <a:solidFill>
                  <a:srgbClr val="5EBAE8"/>
                </a:solidFill>
                <a:latin typeface="Manrope"/>
                <a:ea typeface="Manrope"/>
                <a:cs typeface="Manrope"/>
                <a:sym typeface="Manrope"/>
              </a:rPr>
              <a:t> </a:t>
            </a:r>
            <a:endParaRPr i="0" sz="3800" u="none" cap="none" strike="noStrike">
              <a:solidFill>
                <a:srgbClr val="5EBAE8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Manrope"/>
              <a:buNone/>
            </a:pPr>
            <a:r>
              <a:rPr i="0" lang="en-US" sz="38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de um time que já fez e testou isso diversas vezes.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g3fb63e66dda_0_168"/>
          <p:cNvSpPr/>
          <p:nvPr/>
        </p:nvSpPr>
        <p:spPr>
          <a:xfrm>
            <a:off x="698500" y="6267450"/>
            <a:ext cx="3060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891AB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Dati | Migração e modernização na AWS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g3fb63e66dda_0_168"/>
          <p:cNvSpPr/>
          <p:nvPr/>
        </p:nvSpPr>
        <p:spPr>
          <a:xfrm>
            <a:off x="11333956" y="6267450"/>
            <a:ext cx="2103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891AB"/>
              </a:buClr>
              <a:buSzPts val="1200"/>
              <a:buFont typeface="Manrope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14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fb63e66dda_0_176"/>
          <p:cNvSpPr/>
          <p:nvPr/>
        </p:nvSpPr>
        <p:spPr>
          <a:xfrm>
            <a:off x="698500" y="466725"/>
            <a:ext cx="26187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7DFF"/>
              </a:buClr>
              <a:buSzPts val="1200"/>
              <a:buFont typeface="Manrope"/>
              <a:buNone/>
            </a:pPr>
            <a:r>
              <a:rPr b="1" i="0" lang="en-US" sz="1200" u="none" cap="none" strike="noStrike">
                <a:solidFill>
                  <a:srgbClr val="8C7DFF"/>
                </a:solidFill>
                <a:latin typeface="Manrope"/>
                <a:ea typeface="Manrope"/>
                <a:cs typeface="Manrope"/>
                <a:sym typeface="Manrope"/>
              </a:rPr>
              <a:t>LANÇAMENTO · DATI LABS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1" name="Google Shape;341;g3fb63e66dda_0_1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80031" y="444500"/>
            <a:ext cx="613468" cy="2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g3fb63e66dda_0_176"/>
          <p:cNvSpPr/>
          <p:nvPr/>
        </p:nvSpPr>
        <p:spPr>
          <a:xfrm>
            <a:off x="698500" y="1028700"/>
            <a:ext cx="9918900" cy="4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7877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Manrope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A Dati opera enquanto os outros ainda discutem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g3fb63e66dda_0_176"/>
          <p:cNvSpPr/>
          <p:nvPr/>
        </p:nvSpPr>
        <p:spPr>
          <a:xfrm>
            <a:off x="698500" y="1555453"/>
            <a:ext cx="10203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01818"/>
              </a:lnSpc>
              <a:spcBef>
                <a:spcPts val="0"/>
              </a:spcBef>
              <a:spcAft>
                <a:spcPts val="0"/>
              </a:spcAft>
              <a:buClr>
                <a:srgbClr val="CFC9E6"/>
              </a:buClr>
              <a:buSzPts val="1600"/>
              <a:buFont typeface="Manrope"/>
              <a:buNone/>
            </a:pPr>
            <a:r>
              <a:rPr b="0" i="0" lang="en-US" sz="1600" u="none" cap="none" strike="noStrike">
                <a:solidFill>
                  <a:srgbClr val="CFC9E6"/>
                </a:solidFill>
                <a:latin typeface="Manrope"/>
                <a:ea typeface="Manrope"/>
                <a:cs typeface="Manrope"/>
                <a:sym typeface="Manrope"/>
              </a:rPr>
              <a:t>Um time dedicado a operar IA e agentes dentro dos projetos. O que a gente aprende ali vira velocidade nas suas ondas de migração.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g3fb63e66dda_0_176"/>
          <p:cNvSpPr/>
          <p:nvPr/>
        </p:nvSpPr>
        <p:spPr>
          <a:xfrm>
            <a:off x="1981200" y="3582095"/>
            <a:ext cx="25281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8363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anrope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dos projetos de IA serão abandonados até 2026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g3fb63e66dda_0_176"/>
          <p:cNvSpPr/>
          <p:nvPr/>
        </p:nvSpPr>
        <p:spPr>
          <a:xfrm>
            <a:off x="1981200" y="4138315"/>
            <a:ext cx="2528100" cy="7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01111"/>
              </a:lnSpc>
              <a:spcBef>
                <a:spcPts val="0"/>
              </a:spcBef>
              <a:spcAft>
                <a:spcPts val="0"/>
              </a:spcAft>
              <a:buClr>
                <a:srgbClr val="CFC9E6"/>
              </a:buClr>
              <a:buSzPts val="1300"/>
              <a:buFont typeface="Manrope"/>
              <a:buNone/>
            </a:pPr>
            <a:r>
              <a:rPr b="0" i="0" lang="en-US" sz="1300" u="none" cap="none" strike="noStrike">
                <a:solidFill>
                  <a:srgbClr val="CFC9E6"/>
                </a:solidFill>
                <a:latin typeface="Manrope"/>
                <a:ea typeface="Manrope"/>
                <a:cs typeface="Manrope"/>
                <a:sym typeface="Manrope"/>
              </a:rPr>
              <a:t>a falha não é da ferramenta, é de processo, infraestrutura e preparo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g3fb63e66dda_0_176"/>
          <p:cNvSpPr/>
          <p:nvPr/>
        </p:nvSpPr>
        <p:spPr>
          <a:xfrm>
            <a:off x="4714875" y="3137694"/>
            <a:ext cx="6300" cy="2138400"/>
          </a:xfrm>
          <a:prstGeom prst="rect">
            <a:avLst/>
          </a:prstGeom>
          <a:solidFill>
            <a:srgbClr val="FFFFFF">
              <a:alpha val="14120"/>
            </a:srgbClr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g3fb63e66dda_0_176"/>
          <p:cNvSpPr/>
          <p:nvPr/>
        </p:nvSpPr>
        <p:spPr>
          <a:xfrm>
            <a:off x="5000625" y="3137694"/>
            <a:ext cx="431700" cy="431700"/>
          </a:xfrm>
          <a:prstGeom prst="roundRect">
            <a:avLst>
              <a:gd fmla="val 20588" name="adj"/>
            </a:avLst>
          </a:prstGeom>
          <a:gradFill>
            <a:gsLst>
              <a:gs pos="0">
                <a:srgbClr val="6838E8"/>
              </a:gs>
              <a:gs pos="100000">
                <a:srgbClr val="3503BB"/>
              </a:gs>
            </a:gsLst>
            <a:path path="circle">
              <a:fillToRect b="50%" l="50%" r="50%" t="50%"/>
            </a:path>
            <a:tileRect/>
          </a:gradFill>
          <a:ln cap="flat" cmpd="sng" w="6350">
            <a:solidFill>
              <a:srgbClr val="8F65FE"/>
            </a:solidFill>
            <a:prstDash val="solid"/>
            <a:round/>
            <a:headEnd len="sm" w="sm" type="none"/>
            <a:tailEnd len="sm" w="sm" type="none"/>
          </a:ln>
          <a:effectLst>
            <a:outerShdw blurRad="355600" rotWithShape="0" algn="bl" dir="5400000" dist="114300">
              <a:srgbClr val="240872">
                <a:alpha val="50200"/>
              </a:srgbClr>
            </a:outerShdw>
          </a:effectLst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8" name="Google Shape;348;g3fb63e66dda_0_17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02225" y="3239294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g3fb63e66dda_0_176"/>
          <p:cNvSpPr/>
          <p:nvPr/>
        </p:nvSpPr>
        <p:spPr>
          <a:xfrm>
            <a:off x="5000625" y="3709194"/>
            <a:ext cx="3052800" cy="5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8081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anrope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IA amplifica as condições existentes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g3fb63e66dda_0_176"/>
          <p:cNvSpPr/>
          <p:nvPr/>
        </p:nvSpPr>
        <p:spPr>
          <a:xfrm>
            <a:off x="5000625" y="4351735"/>
            <a:ext cx="3052800" cy="7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01111"/>
              </a:lnSpc>
              <a:spcBef>
                <a:spcPts val="0"/>
              </a:spcBef>
              <a:spcAft>
                <a:spcPts val="0"/>
              </a:spcAft>
              <a:buClr>
                <a:srgbClr val="CFC9E6"/>
              </a:buClr>
              <a:buSzPts val="1300"/>
              <a:buFont typeface="Manrope"/>
              <a:buNone/>
            </a:pPr>
            <a:r>
              <a:rPr b="0" i="0" lang="en-US" sz="1300" u="none" cap="none" strike="noStrike">
                <a:solidFill>
                  <a:srgbClr val="CFC9E6"/>
                </a:solidFill>
                <a:latin typeface="Manrope"/>
                <a:ea typeface="Manrope"/>
                <a:cs typeface="Manrope"/>
                <a:sym typeface="Manrope"/>
              </a:rPr>
              <a:t>com AWS Transform e agentes, conversão de código que era projeto de meses fecha em semanas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g3fb63e66dda_0_176"/>
          <p:cNvSpPr/>
          <p:nvPr/>
        </p:nvSpPr>
        <p:spPr>
          <a:xfrm>
            <a:off x="8243887" y="3137694"/>
            <a:ext cx="6300" cy="2138400"/>
          </a:xfrm>
          <a:prstGeom prst="rect">
            <a:avLst/>
          </a:prstGeom>
          <a:solidFill>
            <a:srgbClr val="FFFFFF">
              <a:alpha val="14120"/>
            </a:srgbClr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g3fb63e66dda_0_176"/>
          <p:cNvSpPr/>
          <p:nvPr/>
        </p:nvSpPr>
        <p:spPr>
          <a:xfrm>
            <a:off x="8529637" y="3137694"/>
            <a:ext cx="431700" cy="431700"/>
          </a:xfrm>
          <a:prstGeom prst="roundRect">
            <a:avLst>
              <a:gd fmla="val 20588" name="adj"/>
            </a:avLst>
          </a:prstGeom>
          <a:gradFill>
            <a:gsLst>
              <a:gs pos="0">
                <a:srgbClr val="6838E8"/>
              </a:gs>
              <a:gs pos="100000">
                <a:srgbClr val="3503BB"/>
              </a:gs>
            </a:gsLst>
            <a:path path="circle">
              <a:fillToRect b="50%" l="50%" r="50%" t="50%"/>
            </a:path>
            <a:tileRect/>
          </a:gradFill>
          <a:ln cap="flat" cmpd="sng" w="6350">
            <a:solidFill>
              <a:srgbClr val="8F65FE"/>
            </a:solidFill>
            <a:prstDash val="solid"/>
            <a:round/>
            <a:headEnd len="sm" w="sm" type="none"/>
            <a:tailEnd len="sm" w="sm" type="none"/>
          </a:ln>
          <a:effectLst>
            <a:outerShdw blurRad="355600" rotWithShape="0" algn="bl" dir="5400000" dist="114300">
              <a:srgbClr val="240872">
                <a:alpha val="50200"/>
              </a:srgbClr>
            </a:outerShdw>
          </a:effectLst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3" name="Google Shape;353;g3fb63e66dda_0_17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31237" y="3239294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g3fb63e66dda_0_176"/>
          <p:cNvSpPr/>
          <p:nvPr/>
        </p:nvSpPr>
        <p:spPr>
          <a:xfrm>
            <a:off x="8529637" y="3709194"/>
            <a:ext cx="3052500" cy="5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8081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anrope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Separando hype do que agrega valor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g3fb63e66dda_0_176"/>
          <p:cNvSpPr/>
          <p:nvPr/>
        </p:nvSpPr>
        <p:spPr>
          <a:xfrm>
            <a:off x="8529637" y="4351735"/>
            <a:ext cx="3052500" cy="9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01111"/>
              </a:lnSpc>
              <a:spcBef>
                <a:spcPts val="0"/>
              </a:spcBef>
              <a:spcAft>
                <a:spcPts val="0"/>
              </a:spcAft>
              <a:buClr>
                <a:srgbClr val="CFC9E6"/>
              </a:buClr>
              <a:buSzPts val="1300"/>
              <a:buFont typeface="Manrope"/>
              <a:buNone/>
            </a:pPr>
            <a:r>
              <a:rPr b="0" i="0" lang="en-US" sz="1300" u="none" cap="none" strike="noStrike">
                <a:solidFill>
                  <a:srgbClr val="CFC9E6"/>
                </a:solidFill>
                <a:latin typeface="Manrope"/>
                <a:ea typeface="Manrope"/>
                <a:cs typeface="Manrope"/>
                <a:sym typeface="Manrope"/>
              </a:rPr>
              <a:t>estudamos ferramentas, frameworks e técnicas de mercado e compartilhamos os aprendizados como ativos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g3fb63e66dda_0_176"/>
          <p:cNvSpPr/>
          <p:nvPr/>
        </p:nvSpPr>
        <p:spPr>
          <a:xfrm>
            <a:off x="698500" y="6267450"/>
            <a:ext cx="3060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891AB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9891AB"/>
                </a:solidFill>
                <a:latin typeface="Manrope"/>
                <a:ea typeface="Manrope"/>
                <a:cs typeface="Manrope"/>
                <a:sym typeface="Manrope"/>
              </a:rPr>
              <a:t>Dati | Migração e modernização na AWS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g3fb63e66dda_0_176"/>
          <p:cNvSpPr/>
          <p:nvPr/>
        </p:nvSpPr>
        <p:spPr>
          <a:xfrm>
            <a:off x="11337429" y="6267450"/>
            <a:ext cx="2067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891AB"/>
              </a:buClr>
              <a:buSzPts val="1200"/>
              <a:buFont typeface="Manrope"/>
              <a:buNone/>
            </a:pPr>
            <a:r>
              <a:rPr b="1" i="0" lang="en-US" sz="1200" u="none" cap="none" strike="noStrike">
                <a:solidFill>
                  <a:srgbClr val="9891AB"/>
                </a:solidFill>
                <a:latin typeface="Manrope"/>
                <a:ea typeface="Manrope"/>
                <a:cs typeface="Manrope"/>
                <a:sym typeface="Manrope"/>
              </a:rPr>
              <a:t>15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8" name="Google Shape;358;g3fb63e66dda_0_176" title="Migracao AWS MAP v3-selection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98500" y="3532964"/>
            <a:ext cx="1204934" cy="12049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fb63e66dda_0_199"/>
          <p:cNvSpPr/>
          <p:nvPr/>
        </p:nvSpPr>
        <p:spPr>
          <a:xfrm>
            <a:off x="67" y="0"/>
            <a:ext cx="121920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3E3E3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g3fb63e66dda_0_199"/>
          <p:cNvSpPr/>
          <p:nvPr/>
        </p:nvSpPr>
        <p:spPr>
          <a:xfrm>
            <a:off x="698500" y="466725"/>
            <a:ext cx="12687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5CC6"/>
              </a:buClr>
              <a:buSzPts val="1200"/>
              <a:buFont typeface="Manrope"/>
              <a:buNone/>
            </a:pPr>
            <a:r>
              <a:rPr b="1" i="0" lang="en-US" sz="1200" u="none" cap="none" strike="noStrike">
                <a:solidFill>
                  <a:srgbClr val="8F65FE"/>
                </a:solidFill>
                <a:latin typeface="Manrope"/>
                <a:ea typeface="Manrope"/>
                <a:cs typeface="Manrope"/>
                <a:sym typeface="Manrope"/>
              </a:rPr>
              <a:t>CONCLUSÃO</a:t>
            </a:r>
            <a:endParaRPr b="0" i="0" sz="1200" u="none" cap="none" strike="noStrike">
              <a:solidFill>
                <a:srgbClr val="8F65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6" name="Google Shape;366;g3fb63e66dda_0_1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80031" y="444500"/>
            <a:ext cx="613468" cy="2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g3fb63e66dda_0_199"/>
          <p:cNvSpPr/>
          <p:nvPr/>
        </p:nvSpPr>
        <p:spPr>
          <a:xfrm>
            <a:off x="698500" y="1028700"/>
            <a:ext cx="9918900" cy="9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78776"/>
              </a:lnSpc>
              <a:spcBef>
                <a:spcPts val="0"/>
              </a:spcBef>
              <a:spcAft>
                <a:spcPts val="0"/>
              </a:spcAft>
              <a:buClr>
                <a:srgbClr val="1A0F3D"/>
              </a:buClr>
              <a:buSzPts val="3100"/>
              <a:buFont typeface="Manrope"/>
              <a:buNone/>
            </a:pPr>
            <a:r>
              <a:rPr b="1" i="0" lang="en-US" sz="3100" u="none" cap="none" strike="noStrike">
                <a:solidFill>
                  <a:srgbClr val="1A0F3D"/>
                </a:solidFill>
                <a:latin typeface="Manrope"/>
                <a:ea typeface="Manrope"/>
                <a:cs typeface="Manrope"/>
                <a:sym typeface="Manrope"/>
              </a:rPr>
              <a:t>O MAP dá o caminho. </a:t>
            </a:r>
            <a:endParaRPr b="1" i="0" sz="3100" u="none" cap="none" strike="noStrike">
              <a:solidFill>
                <a:srgbClr val="1A0F3D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78776"/>
              </a:lnSpc>
              <a:spcBef>
                <a:spcPts val="0"/>
              </a:spcBef>
              <a:spcAft>
                <a:spcPts val="0"/>
              </a:spcAft>
              <a:buClr>
                <a:srgbClr val="1A0F3D"/>
              </a:buClr>
              <a:buSzPts val="3100"/>
              <a:buFont typeface="Manrope"/>
              <a:buNone/>
            </a:pPr>
            <a:r>
              <a:rPr b="1" i="0" lang="en-US" sz="3400" u="none" cap="none" strike="noStrike">
                <a:solidFill>
                  <a:srgbClr val="1A0F3D"/>
                </a:solidFill>
                <a:latin typeface="Manrope"/>
                <a:ea typeface="Manrope"/>
                <a:cs typeface="Manrope"/>
                <a:sym typeface="Manrope"/>
              </a:rPr>
              <a:t>A </a:t>
            </a:r>
            <a:r>
              <a:rPr b="1" i="0" lang="en-US" sz="3400" u="none" cap="none" strike="noStrike">
                <a:solidFill>
                  <a:srgbClr val="8F65FE"/>
                </a:solidFill>
                <a:latin typeface="Manrope"/>
                <a:ea typeface="Manrope"/>
                <a:cs typeface="Manrope"/>
                <a:sym typeface="Manrope"/>
              </a:rPr>
              <a:t>Dati </a:t>
            </a:r>
            <a:r>
              <a:rPr b="1" i="0" lang="en-US" sz="3400" u="none" cap="none" strike="noStrike">
                <a:solidFill>
                  <a:srgbClr val="1A0F3D"/>
                </a:solidFill>
                <a:latin typeface="Manrope"/>
                <a:ea typeface="Manrope"/>
                <a:cs typeface="Manrope"/>
                <a:sym typeface="Manrope"/>
              </a:rPr>
              <a:t>dá a velocidade.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g3fb63e66dda_0_199"/>
          <p:cNvSpPr/>
          <p:nvPr/>
        </p:nvSpPr>
        <p:spPr>
          <a:xfrm>
            <a:off x="698500" y="3916340"/>
            <a:ext cx="16383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18A"/>
              </a:buClr>
              <a:buSzPts val="1300"/>
              <a:buFont typeface="Manrope"/>
              <a:buNone/>
            </a:pPr>
            <a:r>
              <a:rPr b="1" i="0" lang="en-US" sz="1300" u="none" cap="none" strike="noStrike">
                <a:solidFill>
                  <a:srgbClr val="77718A"/>
                </a:solidFill>
                <a:latin typeface="Manrope"/>
                <a:ea typeface="Manrope"/>
                <a:cs typeface="Manrope"/>
                <a:sym typeface="Manrope"/>
              </a:rPr>
              <a:t>PROGRAMA AWS MAP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g3fb63e66dda_0_199"/>
          <p:cNvSpPr/>
          <p:nvPr/>
        </p:nvSpPr>
        <p:spPr>
          <a:xfrm>
            <a:off x="2438400" y="4005240"/>
            <a:ext cx="6300" cy="279300"/>
          </a:xfrm>
          <a:prstGeom prst="rect">
            <a:avLst/>
          </a:prstGeom>
          <a:solidFill>
            <a:srgbClr val="C9C4D8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0" name="Google Shape;370;g3fb63e66dda_0_19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97150" y="4005240"/>
            <a:ext cx="279400" cy="2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g3fb63e66dda_0_199"/>
          <p:cNvSpPr/>
          <p:nvPr/>
        </p:nvSpPr>
        <p:spPr>
          <a:xfrm>
            <a:off x="3003550" y="4015360"/>
            <a:ext cx="9387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74182"/>
              </a:lnSpc>
              <a:spcBef>
                <a:spcPts val="0"/>
              </a:spcBef>
              <a:spcAft>
                <a:spcPts val="0"/>
              </a:spcAft>
              <a:buClr>
                <a:srgbClr val="1A0F3D"/>
              </a:buClr>
              <a:buSzPts val="2000"/>
              <a:buFont typeface="Manrope"/>
              <a:buNone/>
            </a:pPr>
            <a:r>
              <a:rPr b="1" i="0" lang="en-US" sz="2000" u="none" cap="none" strike="noStrike">
                <a:solidFill>
                  <a:srgbClr val="1A0F3D"/>
                </a:solidFill>
                <a:latin typeface="Manrope"/>
                <a:ea typeface="Manrope"/>
                <a:cs typeface="Manrope"/>
                <a:sym typeface="Manrope"/>
              </a:rPr>
              <a:t>Assess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g3fb63e66dda_0_199"/>
          <p:cNvSpPr/>
          <p:nvPr/>
        </p:nvSpPr>
        <p:spPr>
          <a:xfrm>
            <a:off x="5507533" y="4005240"/>
            <a:ext cx="6300" cy="279300"/>
          </a:xfrm>
          <a:prstGeom prst="rect">
            <a:avLst/>
          </a:prstGeom>
          <a:solidFill>
            <a:srgbClr val="C9C4D8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3" name="Google Shape;373;g3fb63e66dda_0_19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66283" y="4005240"/>
            <a:ext cx="279400" cy="2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g3fb63e66dda_0_199"/>
          <p:cNvSpPr/>
          <p:nvPr/>
        </p:nvSpPr>
        <p:spPr>
          <a:xfrm>
            <a:off x="6072683" y="4015360"/>
            <a:ext cx="11013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74182"/>
              </a:lnSpc>
              <a:spcBef>
                <a:spcPts val="0"/>
              </a:spcBef>
              <a:spcAft>
                <a:spcPts val="0"/>
              </a:spcAft>
              <a:buClr>
                <a:srgbClr val="1A0F3D"/>
              </a:buClr>
              <a:buSzPts val="2000"/>
              <a:buFont typeface="Manrope"/>
              <a:buNone/>
            </a:pPr>
            <a:r>
              <a:rPr b="1" i="0" lang="en-US" sz="2000" u="none" cap="none" strike="noStrike">
                <a:solidFill>
                  <a:srgbClr val="1A0F3D"/>
                </a:solidFill>
                <a:latin typeface="Manrope"/>
                <a:ea typeface="Manrope"/>
                <a:cs typeface="Manrope"/>
                <a:sym typeface="Manrope"/>
              </a:rPr>
              <a:t>Mobilize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g3fb63e66dda_0_199"/>
          <p:cNvSpPr/>
          <p:nvPr/>
        </p:nvSpPr>
        <p:spPr>
          <a:xfrm>
            <a:off x="8576667" y="4005240"/>
            <a:ext cx="6300" cy="279300"/>
          </a:xfrm>
          <a:prstGeom prst="rect">
            <a:avLst/>
          </a:prstGeom>
          <a:solidFill>
            <a:srgbClr val="C9C4D8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6" name="Google Shape;376;g3fb63e66dda_0_19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35417" y="4005240"/>
            <a:ext cx="279400" cy="2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g3fb63e66dda_0_199"/>
          <p:cNvSpPr/>
          <p:nvPr/>
        </p:nvSpPr>
        <p:spPr>
          <a:xfrm>
            <a:off x="9141817" y="4031632"/>
            <a:ext cx="22914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77609"/>
              </a:lnSpc>
              <a:spcBef>
                <a:spcPts val="0"/>
              </a:spcBef>
              <a:spcAft>
                <a:spcPts val="0"/>
              </a:spcAft>
              <a:buClr>
                <a:srgbClr val="1A0F3D"/>
              </a:buClr>
              <a:buSzPts val="1700"/>
              <a:buFont typeface="Manrope"/>
              <a:buNone/>
            </a:pPr>
            <a:r>
              <a:rPr b="1" i="0" lang="en-US" sz="1700" u="none" cap="none" strike="noStrike">
                <a:solidFill>
                  <a:srgbClr val="1A0F3D"/>
                </a:solidFill>
                <a:latin typeface="Manrope"/>
                <a:ea typeface="Manrope"/>
                <a:cs typeface="Manrope"/>
                <a:sym typeface="Manrope"/>
              </a:rPr>
              <a:t>Migrate &amp; Modernize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g3fb63e66dda_0_199"/>
          <p:cNvSpPr/>
          <p:nvPr/>
        </p:nvSpPr>
        <p:spPr>
          <a:xfrm>
            <a:off x="698500" y="4538640"/>
            <a:ext cx="1638300" cy="11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503BB"/>
              </a:buClr>
              <a:buSzPts val="1300"/>
              <a:buFont typeface="Manrope"/>
              <a:buNone/>
            </a:pPr>
            <a:r>
              <a:rPr b="1" i="0" lang="en-US" sz="1300" u="none" cap="none" strike="noStrike">
                <a:solidFill>
                  <a:srgbClr val="8F65FE"/>
                </a:solidFill>
                <a:latin typeface="Manrope"/>
                <a:ea typeface="Manrope"/>
                <a:cs typeface="Manrope"/>
                <a:sym typeface="Manrope"/>
              </a:rPr>
              <a:t>ONDE A DATI ACELERA</a:t>
            </a:r>
            <a:endParaRPr b="0" i="0" sz="1300" u="none" cap="none" strike="noStrike">
              <a:solidFill>
                <a:srgbClr val="8F65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g3fb63e66dda_0_199"/>
          <p:cNvSpPr/>
          <p:nvPr/>
        </p:nvSpPr>
        <p:spPr>
          <a:xfrm>
            <a:off x="2438400" y="4538640"/>
            <a:ext cx="2916900" cy="1151700"/>
          </a:xfrm>
          <a:prstGeom prst="roundRect">
            <a:avLst>
              <a:gd fmla="val 13231" name="adj"/>
            </a:avLst>
          </a:prstGeom>
          <a:gradFill>
            <a:gsLst>
              <a:gs pos="0">
                <a:srgbClr val="3B2A8C"/>
              </a:gs>
              <a:gs pos="100000">
                <a:srgbClr val="6838E8"/>
              </a:gs>
            </a:gsLst>
            <a:lin ang="2700006" scaled="0"/>
          </a:gradFill>
          <a:ln>
            <a:noFill/>
          </a:ln>
          <a:effectLst>
            <a:outerShdw blurRad="444500" rotWithShape="0" algn="bl" dir="5400000" dist="165100">
              <a:srgbClr val="330896">
                <a:alpha val="21960"/>
              </a:srgbClr>
            </a:outerShdw>
          </a:effectLst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g3fb63e66dda_0_199"/>
          <p:cNvSpPr/>
          <p:nvPr/>
        </p:nvSpPr>
        <p:spPr>
          <a:xfrm>
            <a:off x="2641600" y="4754540"/>
            <a:ext cx="2597700" cy="7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nrope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Discovery enriquecido com IA, experiência de anos sustentando workloads na AWS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g3fb63e66dda_0_199"/>
          <p:cNvSpPr/>
          <p:nvPr/>
        </p:nvSpPr>
        <p:spPr>
          <a:xfrm>
            <a:off x="5507533" y="4538640"/>
            <a:ext cx="2916900" cy="1151700"/>
          </a:xfrm>
          <a:prstGeom prst="roundRect">
            <a:avLst>
              <a:gd fmla="val 13231" name="adj"/>
            </a:avLst>
          </a:prstGeom>
          <a:gradFill>
            <a:gsLst>
              <a:gs pos="0">
                <a:srgbClr val="3B2A8C"/>
              </a:gs>
              <a:gs pos="100000">
                <a:srgbClr val="6838E8"/>
              </a:gs>
            </a:gsLst>
            <a:lin ang="2700006" scaled="0"/>
          </a:gradFill>
          <a:ln>
            <a:noFill/>
          </a:ln>
          <a:effectLst>
            <a:outerShdw blurRad="444500" rotWithShape="0" algn="bl" dir="5400000" dist="165100">
              <a:srgbClr val="330896">
                <a:alpha val="21960"/>
              </a:srgbClr>
            </a:outerShdw>
          </a:effectLst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g3fb63e66dda_0_199"/>
          <p:cNvSpPr/>
          <p:nvPr/>
        </p:nvSpPr>
        <p:spPr>
          <a:xfrm>
            <a:off x="5710733" y="4754540"/>
            <a:ext cx="2597700" cy="7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nrope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Centenas de templates de landing zone e fundação como código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g3fb63e66dda_0_199"/>
          <p:cNvSpPr/>
          <p:nvPr/>
        </p:nvSpPr>
        <p:spPr>
          <a:xfrm>
            <a:off x="8576667" y="4538640"/>
            <a:ext cx="2916900" cy="1151700"/>
          </a:xfrm>
          <a:prstGeom prst="roundRect">
            <a:avLst>
              <a:gd fmla="val 13231" name="adj"/>
            </a:avLst>
          </a:prstGeom>
          <a:gradFill>
            <a:gsLst>
              <a:gs pos="0">
                <a:srgbClr val="3B2A8C"/>
              </a:gs>
              <a:gs pos="100000">
                <a:srgbClr val="6838E8"/>
              </a:gs>
            </a:gsLst>
            <a:lin ang="2700006" scaled="0"/>
          </a:gradFill>
          <a:ln>
            <a:noFill/>
          </a:ln>
          <a:effectLst>
            <a:outerShdw blurRad="444500" rotWithShape="0" algn="bl" dir="5400000" dist="165100">
              <a:srgbClr val="330896">
                <a:alpha val="21960"/>
              </a:srgbClr>
            </a:outerShdw>
          </a:effectLst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g3fb63e66dda_0_199"/>
          <p:cNvSpPr/>
          <p:nvPr/>
        </p:nvSpPr>
        <p:spPr>
          <a:xfrm>
            <a:off x="8779867" y="4754540"/>
            <a:ext cx="2598000" cy="7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021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nrope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Esteiras de onda de migração + AWS Transform e agentes de modernização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g3fb63e66dda_0_199"/>
          <p:cNvSpPr/>
          <p:nvPr/>
        </p:nvSpPr>
        <p:spPr>
          <a:xfrm>
            <a:off x="698500" y="6267450"/>
            <a:ext cx="3060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18A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77718A"/>
                </a:solidFill>
                <a:latin typeface="Manrope"/>
                <a:ea typeface="Manrope"/>
                <a:cs typeface="Manrope"/>
                <a:sym typeface="Manrope"/>
              </a:rPr>
              <a:t>Dati | Migração e modernização na AWS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g3fb63e66dda_0_199"/>
          <p:cNvSpPr/>
          <p:nvPr/>
        </p:nvSpPr>
        <p:spPr>
          <a:xfrm>
            <a:off x="11331972" y="6267450"/>
            <a:ext cx="2124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18A"/>
              </a:buClr>
              <a:buSzPts val="1200"/>
              <a:buFont typeface="Manrope"/>
              <a:buNone/>
            </a:pPr>
            <a:r>
              <a:rPr b="1" i="0" lang="en-US" sz="1200" u="none" cap="none" strike="noStrike">
                <a:solidFill>
                  <a:srgbClr val="77718A"/>
                </a:solidFill>
                <a:latin typeface="Manrope"/>
                <a:ea typeface="Manrope"/>
                <a:cs typeface="Manrope"/>
                <a:sym typeface="Manrope"/>
              </a:rPr>
              <a:t>16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g3fb63e66dda_0_199"/>
          <p:cNvSpPr/>
          <p:nvPr/>
        </p:nvSpPr>
        <p:spPr>
          <a:xfrm>
            <a:off x="-866067" y="2488332"/>
            <a:ext cx="810300" cy="886800"/>
          </a:xfrm>
          <a:prstGeom prst="chevron">
            <a:avLst>
              <a:gd fmla="val 50000" name="adj"/>
            </a:avLst>
          </a:prstGeom>
          <a:solidFill>
            <a:srgbClr val="CFC9E6"/>
          </a:solidFill>
          <a:ln>
            <a:noFill/>
          </a:ln>
        </p:spPr>
        <p:txBody>
          <a:bodyPr anchorCtr="0" anchor="ctr" bIns="69725" lIns="69725" spcFirstLastPara="1" rIns="69725" wrap="square" tIns="69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388" name="Google Shape;388;g3fb63e66dda_0_199"/>
          <p:cNvSpPr/>
          <p:nvPr/>
        </p:nvSpPr>
        <p:spPr>
          <a:xfrm>
            <a:off x="-238460" y="2489811"/>
            <a:ext cx="810300" cy="886800"/>
          </a:xfrm>
          <a:prstGeom prst="chevron">
            <a:avLst>
              <a:gd fmla="val 50000" name="adj"/>
            </a:avLst>
          </a:prstGeom>
          <a:solidFill>
            <a:srgbClr val="CFC9E6"/>
          </a:solidFill>
          <a:ln>
            <a:noFill/>
          </a:ln>
        </p:spPr>
        <p:txBody>
          <a:bodyPr anchorCtr="0" anchor="ctr" bIns="69725" lIns="69725" spcFirstLastPara="1" rIns="69725" wrap="square" tIns="69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389" name="Google Shape;389;g3fb63e66dda_0_199"/>
          <p:cNvSpPr/>
          <p:nvPr/>
        </p:nvSpPr>
        <p:spPr>
          <a:xfrm>
            <a:off x="413240" y="2489811"/>
            <a:ext cx="810300" cy="886800"/>
          </a:xfrm>
          <a:prstGeom prst="chevron">
            <a:avLst>
              <a:gd fmla="val 50000" name="adj"/>
            </a:avLst>
          </a:prstGeom>
          <a:solidFill>
            <a:srgbClr val="CFC9E6"/>
          </a:solidFill>
          <a:ln>
            <a:noFill/>
          </a:ln>
        </p:spPr>
        <p:txBody>
          <a:bodyPr anchorCtr="0" anchor="ctr" bIns="69725" lIns="69725" spcFirstLastPara="1" rIns="69725" wrap="square" tIns="69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390" name="Google Shape;390;g3fb63e66dda_0_199"/>
          <p:cNvSpPr/>
          <p:nvPr/>
        </p:nvSpPr>
        <p:spPr>
          <a:xfrm>
            <a:off x="987026" y="2483545"/>
            <a:ext cx="810300" cy="886800"/>
          </a:xfrm>
          <a:prstGeom prst="chevron">
            <a:avLst>
              <a:gd fmla="val 50000" name="adj"/>
            </a:avLst>
          </a:prstGeom>
          <a:solidFill>
            <a:srgbClr val="CFC9E6"/>
          </a:solidFill>
          <a:ln>
            <a:noFill/>
          </a:ln>
        </p:spPr>
        <p:txBody>
          <a:bodyPr anchorCtr="0" anchor="ctr" bIns="69725" lIns="69725" spcFirstLastPara="1" rIns="69725" wrap="square" tIns="69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391" name="Google Shape;391;g3fb63e66dda_0_199"/>
          <p:cNvSpPr/>
          <p:nvPr/>
        </p:nvSpPr>
        <p:spPr>
          <a:xfrm>
            <a:off x="1614633" y="2485024"/>
            <a:ext cx="810300" cy="886800"/>
          </a:xfrm>
          <a:prstGeom prst="chevron">
            <a:avLst>
              <a:gd fmla="val 50000" name="adj"/>
            </a:avLst>
          </a:prstGeom>
          <a:solidFill>
            <a:srgbClr val="CFC9E6"/>
          </a:solidFill>
          <a:ln>
            <a:noFill/>
          </a:ln>
        </p:spPr>
        <p:txBody>
          <a:bodyPr anchorCtr="0" anchor="ctr" bIns="69725" lIns="69725" spcFirstLastPara="1" rIns="69725" wrap="square" tIns="69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392" name="Google Shape;392;g3fb63e66dda_0_199"/>
          <p:cNvSpPr/>
          <p:nvPr/>
        </p:nvSpPr>
        <p:spPr>
          <a:xfrm>
            <a:off x="2266333" y="2485024"/>
            <a:ext cx="810300" cy="886800"/>
          </a:xfrm>
          <a:prstGeom prst="chevron">
            <a:avLst>
              <a:gd fmla="val 50000" name="adj"/>
            </a:avLst>
          </a:prstGeom>
          <a:solidFill>
            <a:srgbClr val="CFC9E6"/>
          </a:solidFill>
          <a:ln>
            <a:noFill/>
          </a:ln>
        </p:spPr>
        <p:txBody>
          <a:bodyPr anchorCtr="0" anchor="ctr" bIns="69725" lIns="69725" spcFirstLastPara="1" rIns="69725" wrap="square" tIns="69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393" name="Google Shape;393;g3fb63e66dda_0_199"/>
          <p:cNvSpPr/>
          <p:nvPr/>
        </p:nvSpPr>
        <p:spPr>
          <a:xfrm>
            <a:off x="2837955" y="2483552"/>
            <a:ext cx="810300" cy="886800"/>
          </a:xfrm>
          <a:prstGeom prst="chevron">
            <a:avLst>
              <a:gd fmla="val 50000" name="adj"/>
            </a:avLst>
          </a:prstGeom>
          <a:solidFill>
            <a:srgbClr val="CFC9E6"/>
          </a:solidFill>
          <a:ln>
            <a:noFill/>
          </a:ln>
        </p:spPr>
        <p:txBody>
          <a:bodyPr anchorCtr="0" anchor="ctr" bIns="69725" lIns="69725" spcFirstLastPara="1" rIns="69725" wrap="square" tIns="69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394" name="Google Shape;394;g3fb63e66dda_0_199"/>
          <p:cNvSpPr/>
          <p:nvPr/>
        </p:nvSpPr>
        <p:spPr>
          <a:xfrm>
            <a:off x="3465561" y="2485031"/>
            <a:ext cx="810300" cy="886800"/>
          </a:xfrm>
          <a:prstGeom prst="chevron">
            <a:avLst>
              <a:gd fmla="val 50000" name="adj"/>
            </a:avLst>
          </a:prstGeom>
          <a:solidFill>
            <a:srgbClr val="CFC9E6"/>
          </a:solidFill>
          <a:ln>
            <a:noFill/>
          </a:ln>
        </p:spPr>
        <p:txBody>
          <a:bodyPr anchorCtr="0" anchor="ctr" bIns="69725" lIns="69725" spcFirstLastPara="1" rIns="69725" wrap="square" tIns="69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395" name="Google Shape;395;g3fb63e66dda_0_199"/>
          <p:cNvSpPr/>
          <p:nvPr/>
        </p:nvSpPr>
        <p:spPr>
          <a:xfrm>
            <a:off x="4117262" y="2485031"/>
            <a:ext cx="810300" cy="886800"/>
          </a:xfrm>
          <a:prstGeom prst="chevron">
            <a:avLst>
              <a:gd fmla="val 50000" name="adj"/>
            </a:avLst>
          </a:prstGeom>
          <a:solidFill>
            <a:srgbClr val="CFC9E6"/>
          </a:solidFill>
          <a:ln>
            <a:noFill/>
          </a:ln>
        </p:spPr>
        <p:txBody>
          <a:bodyPr anchorCtr="0" anchor="ctr" bIns="69725" lIns="69725" spcFirstLastPara="1" rIns="69725" wrap="square" tIns="69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396" name="Google Shape;396;g3fb63e66dda_0_199"/>
          <p:cNvSpPr/>
          <p:nvPr/>
        </p:nvSpPr>
        <p:spPr>
          <a:xfrm>
            <a:off x="4701997" y="2483545"/>
            <a:ext cx="810300" cy="886800"/>
          </a:xfrm>
          <a:prstGeom prst="chevron">
            <a:avLst>
              <a:gd fmla="val 50000" name="adj"/>
            </a:avLst>
          </a:prstGeom>
          <a:solidFill>
            <a:srgbClr val="CFC9E6"/>
          </a:solidFill>
          <a:ln>
            <a:noFill/>
          </a:ln>
        </p:spPr>
        <p:txBody>
          <a:bodyPr anchorCtr="0" anchor="ctr" bIns="69725" lIns="69725" spcFirstLastPara="1" rIns="69725" wrap="square" tIns="69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397" name="Google Shape;397;g3fb63e66dda_0_199"/>
          <p:cNvSpPr/>
          <p:nvPr/>
        </p:nvSpPr>
        <p:spPr>
          <a:xfrm>
            <a:off x="5329603" y="2485024"/>
            <a:ext cx="810300" cy="886800"/>
          </a:xfrm>
          <a:prstGeom prst="chevron">
            <a:avLst>
              <a:gd fmla="val 50000" name="adj"/>
            </a:avLst>
          </a:prstGeom>
          <a:solidFill>
            <a:srgbClr val="CFC9E6"/>
          </a:solidFill>
          <a:ln>
            <a:noFill/>
          </a:ln>
        </p:spPr>
        <p:txBody>
          <a:bodyPr anchorCtr="0" anchor="ctr" bIns="69725" lIns="69725" spcFirstLastPara="1" rIns="69725" wrap="square" tIns="69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398" name="Google Shape;398;g3fb63e66dda_0_199"/>
          <p:cNvSpPr/>
          <p:nvPr/>
        </p:nvSpPr>
        <p:spPr>
          <a:xfrm>
            <a:off x="5981304" y="2485024"/>
            <a:ext cx="810300" cy="886800"/>
          </a:xfrm>
          <a:prstGeom prst="chevron">
            <a:avLst>
              <a:gd fmla="val 50000" name="adj"/>
            </a:avLst>
          </a:prstGeom>
          <a:solidFill>
            <a:srgbClr val="CFC9E6"/>
          </a:solidFill>
          <a:ln>
            <a:noFill/>
          </a:ln>
        </p:spPr>
        <p:txBody>
          <a:bodyPr anchorCtr="0" anchor="ctr" bIns="69725" lIns="69725" spcFirstLastPara="1" rIns="69725" wrap="square" tIns="69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399" name="Google Shape;399;g3fb63e66dda_0_199"/>
          <p:cNvSpPr/>
          <p:nvPr/>
        </p:nvSpPr>
        <p:spPr>
          <a:xfrm>
            <a:off x="6597996" y="2479396"/>
            <a:ext cx="810300" cy="886800"/>
          </a:xfrm>
          <a:prstGeom prst="chevron">
            <a:avLst>
              <a:gd fmla="val 50000" name="adj"/>
            </a:avLst>
          </a:prstGeom>
          <a:solidFill>
            <a:srgbClr val="CFC9E6"/>
          </a:solidFill>
          <a:ln>
            <a:noFill/>
          </a:ln>
        </p:spPr>
        <p:txBody>
          <a:bodyPr anchorCtr="0" anchor="ctr" bIns="69725" lIns="69725" spcFirstLastPara="1" rIns="69725" wrap="square" tIns="69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400" name="Google Shape;400;g3fb63e66dda_0_199"/>
          <p:cNvSpPr/>
          <p:nvPr/>
        </p:nvSpPr>
        <p:spPr>
          <a:xfrm>
            <a:off x="7225602" y="2480875"/>
            <a:ext cx="810300" cy="886800"/>
          </a:xfrm>
          <a:prstGeom prst="chevron">
            <a:avLst>
              <a:gd fmla="val 50000" name="adj"/>
            </a:avLst>
          </a:prstGeom>
          <a:solidFill>
            <a:srgbClr val="CFC9E6"/>
          </a:solidFill>
          <a:ln>
            <a:noFill/>
          </a:ln>
        </p:spPr>
        <p:txBody>
          <a:bodyPr anchorCtr="0" anchor="ctr" bIns="69725" lIns="69725" spcFirstLastPara="1" rIns="69725" wrap="square" tIns="69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401" name="Google Shape;401;g3fb63e66dda_0_199"/>
          <p:cNvSpPr/>
          <p:nvPr/>
        </p:nvSpPr>
        <p:spPr>
          <a:xfrm>
            <a:off x="7877303" y="2480875"/>
            <a:ext cx="810300" cy="886800"/>
          </a:xfrm>
          <a:prstGeom prst="chevron">
            <a:avLst>
              <a:gd fmla="val 50000" name="adj"/>
            </a:avLst>
          </a:prstGeom>
          <a:solidFill>
            <a:srgbClr val="CFC9E6"/>
          </a:solidFill>
          <a:ln>
            <a:noFill/>
          </a:ln>
        </p:spPr>
        <p:txBody>
          <a:bodyPr anchorCtr="0" anchor="ctr" bIns="69725" lIns="69725" spcFirstLastPara="1" rIns="69725" wrap="square" tIns="69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402" name="Google Shape;402;g3fb63e66dda_0_199"/>
          <p:cNvSpPr/>
          <p:nvPr/>
        </p:nvSpPr>
        <p:spPr>
          <a:xfrm>
            <a:off x="8491422" y="2479396"/>
            <a:ext cx="810300" cy="886800"/>
          </a:xfrm>
          <a:prstGeom prst="chevron">
            <a:avLst>
              <a:gd fmla="val 50000" name="adj"/>
            </a:avLst>
          </a:prstGeom>
          <a:solidFill>
            <a:srgbClr val="CFC9E6"/>
          </a:solidFill>
          <a:ln>
            <a:noFill/>
          </a:ln>
        </p:spPr>
        <p:txBody>
          <a:bodyPr anchorCtr="0" anchor="ctr" bIns="69725" lIns="69725" spcFirstLastPara="1" rIns="69725" wrap="square" tIns="69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403" name="Google Shape;403;g3fb63e66dda_0_199"/>
          <p:cNvSpPr/>
          <p:nvPr/>
        </p:nvSpPr>
        <p:spPr>
          <a:xfrm>
            <a:off x="9119028" y="2480875"/>
            <a:ext cx="810300" cy="886800"/>
          </a:xfrm>
          <a:prstGeom prst="chevron">
            <a:avLst>
              <a:gd fmla="val 50000" name="adj"/>
            </a:avLst>
          </a:prstGeom>
          <a:solidFill>
            <a:srgbClr val="CFC9E6"/>
          </a:solidFill>
          <a:ln>
            <a:noFill/>
          </a:ln>
        </p:spPr>
        <p:txBody>
          <a:bodyPr anchorCtr="0" anchor="ctr" bIns="69725" lIns="69725" spcFirstLastPara="1" rIns="69725" wrap="square" tIns="69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404" name="Google Shape;404;g3fb63e66dda_0_199"/>
          <p:cNvSpPr/>
          <p:nvPr/>
        </p:nvSpPr>
        <p:spPr>
          <a:xfrm>
            <a:off x="9770729" y="2480875"/>
            <a:ext cx="810300" cy="886800"/>
          </a:xfrm>
          <a:prstGeom prst="chevron">
            <a:avLst>
              <a:gd fmla="val 50000" name="adj"/>
            </a:avLst>
          </a:prstGeom>
          <a:solidFill>
            <a:srgbClr val="CFC9E6"/>
          </a:solidFill>
          <a:ln>
            <a:noFill/>
          </a:ln>
        </p:spPr>
        <p:txBody>
          <a:bodyPr anchorCtr="0" anchor="ctr" bIns="69725" lIns="69725" spcFirstLastPara="1" rIns="69725" wrap="square" tIns="69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405" name="Google Shape;405;g3fb63e66dda_0_199"/>
          <p:cNvSpPr/>
          <p:nvPr/>
        </p:nvSpPr>
        <p:spPr>
          <a:xfrm>
            <a:off x="10388320" y="2475327"/>
            <a:ext cx="810300" cy="886800"/>
          </a:xfrm>
          <a:prstGeom prst="chevron">
            <a:avLst>
              <a:gd fmla="val 50000" name="adj"/>
            </a:avLst>
          </a:prstGeom>
          <a:solidFill>
            <a:srgbClr val="CFC9E6"/>
          </a:solidFill>
          <a:ln>
            <a:noFill/>
          </a:ln>
        </p:spPr>
        <p:txBody>
          <a:bodyPr anchorCtr="0" anchor="ctr" bIns="69725" lIns="69725" spcFirstLastPara="1" rIns="69725" wrap="square" tIns="69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406" name="Google Shape;406;g3fb63e66dda_0_199"/>
          <p:cNvSpPr/>
          <p:nvPr/>
        </p:nvSpPr>
        <p:spPr>
          <a:xfrm>
            <a:off x="11015926" y="2476806"/>
            <a:ext cx="810300" cy="886800"/>
          </a:xfrm>
          <a:prstGeom prst="chevron">
            <a:avLst>
              <a:gd fmla="val 50000" name="adj"/>
            </a:avLst>
          </a:prstGeom>
          <a:solidFill>
            <a:srgbClr val="CFC9E6"/>
          </a:solidFill>
          <a:ln>
            <a:noFill/>
          </a:ln>
        </p:spPr>
        <p:txBody>
          <a:bodyPr anchorCtr="0" anchor="ctr" bIns="69725" lIns="69725" spcFirstLastPara="1" rIns="69725" wrap="square" tIns="69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407" name="Google Shape;407;g3fb63e66dda_0_199"/>
          <p:cNvSpPr/>
          <p:nvPr/>
        </p:nvSpPr>
        <p:spPr>
          <a:xfrm>
            <a:off x="11667627" y="2476806"/>
            <a:ext cx="810300" cy="886800"/>
          </a:xfrm>
          <a:prstGeom prst="chevron">
            <a:avLst>
              <a:gd fmla="val 50000" name="adj"/>
            </a:avLst>
          </a:prstGeom>
          <a:solidFill>
            <a:srgbClr val="CFC9E6"/>
          </a:solidFill>
          <a:ln>
            <a:noFill/>
          </a:ln>
        </p:spPr>
        <p:txBody>
          <a:bodyPr anchorCtr="0" anchor="ctr" bIns="69725" lIns="69725" spcFirstLastPara="1" rIns="69725" wrap="square" tIns="69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fb63e66dda_0_24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3E3E3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g3fb63e66dda_0_247"/>
          <p:cNvSpPr/>
          <p:nvPr/>
        </p:nvSpPr>
        <p:spPr>
          <a:xfrm>
            <a:off x="698500" y="466725"/>
            <a:ext cx="16785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5CC6"/>
              </a:buClr>
              <a:buSzPts val="1200"/>
              <a:buFont typeface="Manrope"/>
              <a:buNone/>
            </a:pPr>
            <a:r>
              <a:rPr b="1" i="0" lang="en-US" sz="1200" u="none" cap="none" strike="noStrike">
                <a:solidFill>
                  <a:srgbClr val="8F65FE"/>
                </a:solidFill>
                <a:latin typeface="Manrope"/>
                <a:ea typeface="Manrope"/>
                <a:cs typeface="Manrope"/>
                <a:sym typeface="Manrope"/>
              </a:rPr>
              <a:t>PRÓXIMO PASSO</a:t>
            </a:r>
            <a:endParaRPr b="0" i="0" sz="1200" u="none" cap="none" strike="noStrike">
              <a:solidFill>
                <a:srgbClr val="8F65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15" name="Google Shape;415;g3fb63e66dda_0_2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80031" y="444500"/>
            <a:ext cx="613468" cy="2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g3fb63e66dda_0_247"/>
          <p:cNvSpPr/>
          <p:nvPr/>
        </p:nvSpPr>
        <p:spPr>
          <a:xfrm>
            <a:off x="698500" y="1028700"/>
            <a:ext cx="9918900" cy="4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78776"/>
              </a:lnSpc>
              <a:spcBef>
                <a:spcPts val="0"/>
              </a:spcBef>
              <a:spcAft>
                <a:spcPts val="0"/>
              </a:spcAft>
              <a:buClr>
                <a:srgbClr val="1A0F3D"/>
              </a:buClr>
              <a:buSzPts val="3100"/>
              <a:buFont typeface="Manrope"/>
              <a:buNone/>
            </a:pPr>
            <a:r>
              <a:rPr b="1" i="0" lang="en-US" sz="3100" u="none" cap="none" strike="noStrike">
                <a:solidFill>
                  <a:srgbClr val="1A0F3D"/>
                </a:solidFill>
                <a:latin typeface="Manrope"/>
                <a:ea typeface="Manrope"/>
                <a:cs typeface="Manrope"/>
                <a:sym typeface="Manrope"/>
              </a:rPr>
              <a:t>O próximo passo leva </a:t>
            </a:r>
            <a:r>
              <a:rPr b="1" i="0" lang="en-US" sz="3100" u="none" cap="none" strike="noStrike">
                <a:solidFill>
                  <a:srgbClr val="8F65FE"/>
                </a:solidFill>
                <a:latin typeface="Manrope"/>
                <a:ea typeface="Manrope"/>
                <a:cs typeface="Manrope"/>
                <a:sym typeface="Manrope"/>
              </a:rPr>
              <a:t>trinta segundos</a:t>
            </a:r>
            <a:endParaRPr b="0" i="0" sz="3100" u="none" cap="none" strike="noStrike">
              <a:solidFill>
                <a:srgbClr val="8F65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g3fb63e66dda_0_247"/>
          <p:cNvSpPr/>
          <p:nvPr/>
        </p:nvSpPr>
        <p:spPr>
          <a:xfrm>
            <a:off x="698500" y="1555453"/>
            <a:ext cx="81102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01818"/>
              </a:lnSpc>
              <a:spcBef>
                <a:spcPts val="0"/>
              </a:spcBef>
              <a:spcAft>
                <a:spcPts val="0"/>
              </a:spcAft>
              <a:buClr>
                <a:srgbClr val="5B5570"/>
              </a:buClr>
              <a:buSzPts val="1600"/>
              <a:buFont typeface="Manrope"/>
              <a:buNone/>
            </a:pPr>
            <a:r>
              <a:rPr b="0" i="0" lang="en-US" sz="1600" u="none" cap="none" strike="noStrike">
                <a:solidFill>
                  <a:srgbClr val="5B5570"/>
                </a:solidFill>
                <a:latin typeface="Manrope"/>
                <a:ea typeface="Manrope"/>
                <a:cs typeface="Manrope"/>
                <a:sym typeface="Manrope"/>
              </a:rPr>
              <a:t>Escaneie o QR Code e a gente entra em contato para agendar uma conversa de aprofundamento sobre o seu ambiente.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g3fb63e66dda_0_247"/>
          <p:cNvSpPr/>
          <p:nvPr/>
        </p:nvSpPr>
        <p:spPr>
          <a:xfrm>
            <a:off x="698500" y="3095625"/>
            <a:ext cx="1866900" cy="1866900"/>
          </a:xfrm>
          <a:prstGeom prst="roundRect">
            <a:avLst>
              <a:gd fmla="val 8163" name="adj"/>
            </a:avLst>
          </a:prstGeom>
          <a:solidFill>
            <a:srgbClr val="FFFFFF"/>
          </a:solidFill>
          <a:ln cap="flat" cmpd="sng" w="12700">
            <a:solidFill>
              <a:srgbClr val="B9B2CE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g3fb63e66dda_0_247"/>
          <p:cNvSpPr/>
          <p:nvPr/>
        </p:nvSpPr>
        <p:spPr>
          <a:xfrm>
            <a:off x="683197" y="3108325"/>
            <a:ext cx="1897500" cy="18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925" lIns="16925" spcFirstLastPara="1" rIns="16925" wrap="square" tIns="16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18A"/>
              </a:buClr>
              <a:buSzPts val="1300"/>
              <a:buFont typeface="Manrope"/>
              <a:buNone/>
            </a:pPr>
            <a:r>
              <a:rPr b="1" i="0" lang="en-US" sz="1300" u="none" cap="none" strike="noStrike">
                <a:solidFill>
                  <a:srgbClr val="77718A"/>
                </a:solidFill>
                <a:latin typeface="Manrope"/>
                <a:ea typeface="Manrope"/>
                <a:cs typeface="Manrope"/>
                <a:sym typeface="Manrope"/>
              </a:rPr>
              <a:t>[QR CODE]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0" name="Google Shape;420;g3fb63e66dda_0_2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8329" y="508317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g3fb63e66dda_0_247"/>
          <p:cNvSpPr/>
          <p:nvPr/>
        </p:nvSpPr>
        <p:spPr>
          <a:xfrm>
            <a:off x="1063129" y="5076825"/>
            <a:ext cx="1586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5CC6"/>
              </a:buClr>
              <a:buSzPts val="1400"/>
              <a:buFont typeface="Manrope"/>
              <a:buNone/>
            </a:pPr>
            <a:r>
              <a:rPr b="1" i="0" lang="en-US" sz="1400" u="none" cap="none" strike="noStrike">
                <a:solidFill>
                  <a:srgbClr val="655CC6"/>
                </a:solidFill>
                <a:latin typeface="Manrope"/>
                <a:ea typeface="Manrope"/>
                <a:cs typeface="Manrope"/>
                <a:sym typeface="Manrope"/>
              </a:rPr>
              <a:t>Aponte a câmera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g3fb63e66dda_0_247"/>
          <p:cNvSpPr/>
          <p:nvPr/>
        </p:nvSpPr>
        <p:spPr>
          <a:xfrm>
            <a:off x="2870200" y="3003534"/>
            <a:ext cx="8623500" cy="2314500"/>
          </a:xfrm>
          <a:prstGeom prst="roundRect">
            <a:avLst>
              <a:gd fmla="val 8000" name="adj"/>
            </a:avLst>
          </a:prstGeom>
          <a:gradFill>
            <a:gsLst>
              <a:gs pos="0">
                <a:srgbClr val="3B2A8C"/>
              </a:gs>
              <a:gs pos="100000">
                <a:srgbClr val="6838E8"/>
              </a:gs>
            </a:gsLst>
            <a:lin ang="2700006" scaled="0"/>
          </a:gradFill>
          <a:ln>
            <a:noFill/>
          </a:ln>
          <a:effectLst>
            <a:outerShdw blurRad="635000" rotWithShape="0" algn="bl" dir="5400000" dist="215900">
              <a:srgbClr val="330896">
                <a:alpha val="30200"/>
              </a:srgbClr>
            </a:outerShdw>
          </a:effectLst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3" name="Google Shape;423;g3fb63e66dda_0_2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25800" y="3990975"/>
            <a:ext cx="431800" cy="43180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g3fb63e66dda_0_247"/>
          <p:cNvSpPr/>
          <p:nvPr/>
        </p:nvSpPr>
        <p:spPr>
          <a:xfrm>
            <a:off x="3873500" y="3866059"/>
            <a:ext cx="74823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8946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anrope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Sem compromisso: </a:t>
            </a:r>
            <a:r>
              <a:rPr i="0" lang="en-US" sz="22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o primeiro passo é a avaliação </a:t>
            </a:r>
            <a:endParaRPr i="0" sz="2200" u="none" cap="none" strike="noStrike">
              <a:solidFill>
                <a:srgbClr val="FFFFFF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8946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anrope"/>
              <a:buNone/>
            </a:pPr>
            <a:r>
              <a:rPr i="0" lang="en-US" sz="22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do MAP, </a:t>
            </a:r>
            <a:r>
              <a:rPr b="1" i="0" lang="en-US" sz="2200" u="none" cap="none" strike="noStrike">
                <a:solidFill>
                  <a:srgbClr val="A4DF64"/>
                </a:solidFill>
                <a:latin typeface="Manrope"/>
                <a:ea typeface="Manrope"/>
                <a:cs typeface="Manrope"/>
                <a:sym typeface="Manrope"/>
              </a:rPr>
              <a:t>financiada pela AWS.</a:t>
            </a:r>
            <a:endParaRPr b="0" i="0" sz="2200" u="none" cap="none" strike="noStrike">
              <a:solidFill>
                <a:srgbClr val="A4DF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g3fb63e66dda_0_247"/>
          <p:cNvSpPr/>
          <p:nvPr/>
        </p:nvSpPr>
        <p:spPr>
          <a:xfrm>
            <a:off x="698500" y="6267450"/>
            <a:ext cx="3060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18A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77718A"/>
                </a:solidFill>
                <a:latin typeface="Manrope"/>
                <a:ea typeface="Manrope"/>
                <a:cs typeface="Manrope"/>
                <a:sym typeface="Manrope"/>
              </a:rPr>
              <a:t>Dati | Migração e modernização na AWS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g3fb63e66dda_0_247"/>
          <p:cNvSpPr/>
          <p:nvPr/>
        </p:nvSpPr>
        <p:spPr>
          <a:xfrm>
            <a:off x="11345367" y="6267450"/>
            <a:ext cx="198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18A"/>
              </a:buClr>
              <a:buSzPts val="1200"/>
              <a:buFont typeface="Manrope"/>
              <a:buNone/>
            </a:pPr>
            <a:r>
              <a:rPr b="1" i="0" lang="en-US" sz="1200" u="none" cap="none" strike="noStrike">
                <a:solidFill>
                  <a:srgbClr val="77718A"/>
                </a:solidFill>
                <a:latin typeface="Manrope"/>
                <a:ea typeface="Manrope"/>
                <a:cs typeface="Manrope"/>
                <a:sym typeface="Manrope"/>
              </a:rPr>
              <a:t>17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7" name="Google Shape;427;g3fb63e66dda_0_247" title="QR Code webinar (2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0550" y="3003533"/>
            <a:ext cx="2002800" cy="2002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fb63e66dda_0_26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D0824"/>
              </a:gs>
              <a:gs pos="55000">
                <a:srgbClr val="1A0F3D"/>
              </a:gs>
              <a:gs pos="100000">
                <a:srgbClr val="2B1B5C"/>
              </a:gs>
            </a:gsLst>
            <a:lin ang="2700006" scaled="0"/>
          </a:gra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4" name="Google Shape;434;g3fb63e66dda_0_2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60" y="1097310"/>
            <a:ext cx="4663378" cy="46633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35" name="Google Shape;435;g3fb63e66dda_0_2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8500" y="609600"/>
            <a:ext cx="1460501" cy="60463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g3fb63e66dda_0_266"/>
          <p:cNvSpPr/>
          <p:nvPr/>
        </p:nvSpPr>
        <p:spPr>
          <a:xfrm>
            <a:off x="698500" y="3121719"/>
            <a:ext cx="118746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729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Manrope"/>
              <a:buNone/>
            </a:pPr>
            <a:r>
              <a:rPr b="0" i="0" lang="en-US" sz="66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Obrigado!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g3fb63e66dda_0_266"/>
          <p:cNvSpPr/>
          <p:nvPr/>
        </p:nvSpPr>
        <p:spPr>
          <a:xfrm>
            <a:off x="698500" y="4150417"/>
            <a:ext cx="3720300" cy="225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6838E8"/>
              </a:gs>
              <a:gs pos="100000">
                <a:srgbClr val="6838E8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g3fb63e66dda_0_266"/>
          <p:cNvSpPr/>
          <p:nvPr/>
        </p:nvSpPr>
        <p:spPr>
          <a:xfrm>
            <a:off x="698500" y="6089650"/>
            <a:ext cx="118746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891AB"/>
              </a:buClr>
              <a:buSzPts val="1200"/>
              <a:buFont typeface="Manrope"/>
              <a:buNone/>
            </a:pPr>
            <a:r>
              <a:rPr b="1" i="0" lang="en-US" sz="1200" u="none" cap="none" strike="noStrike">
                <a:solidFill>
                  <a:srgbClr val="9891AB"/>
                </a:solidFill>
                <a:latin typeface="Manrope"/>
                <a:ea typeface="Manrope"/>
                <a:cs typeface="Manrope"/>
                <a:sym typeface="Manrope"/>
              </a:rPr>
              <a:t>DATI | MIGRAÇÃO E MODERNIZAÇÃO NA AWS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